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265792928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C0DDC4-7E5D-31EE-8147-7F1F2221BD9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DE650A6-496F-B598-E0A6-0C3A7645A1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E1898A-04D7-4D94-F41F-5A009D5468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02E6EE-F05F-33EA-7CDB-B4B4CDC42A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EA2A34C-C113-A84B-C83C-4FC70F21F2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F5CC0F-77FC-6ACF-5654-588659F4BF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E3596F-B2B9-67A1-91DB-C4B3F16B20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E210FD-F25D-13A0-A259-2018D4FA56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B4417C-BFFC-63C2-4F44-ECB2DFEE33F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3825DF-4257-3B76-6C6C-BBB2CF6B48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82C8BF-5EF9-2451-4234-8F60A99DF1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131140-20FE-78AB-E254-9740726DE7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FA9F81-9281-3FD3-6949-F1206491BE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0940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5673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7154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2C585D-E3E7-7367-C304-07C672A21A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967A2-3A45-640E-EB4C-0D7537B4E4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Default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622828" name=""/>
          <p:cNvSpPr/>
          <p:nvPr/>
        </p:nvSpPr>
        <p:spPr bwMode="auto">
          <a:xfrm rot="5400000">
            <a:off x="865080" y="348840"/>
            <a:ext cx="144719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980216" name=""/>
          <p:cNvSpPr/>
          <p:nvPr/>
        </p:nvSpPr>
        <p:spPr bwMode="auto">
          <a:xfrm flipV="1">
            <a:off x="577800" y="4497840"/>
            <a:ext cx="11033280" cy="17640"/>
          </a:xfrm>
          <a:prstGeom prst="rect">
            <a:avLst/>
          </a:prstGeom>
          <a:solidFill>
            <a:srgbClr val="DBBD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558546" name="PlaceHolder 1"/>
          <p:cNvSpPr>
            <a:spLocks noGrp="1"/>
          </p:cNvSpPr>
          <p:nvPr>
            <p:ph type="title"/>
          </p:nvPr>
        </p:nvSpPr>
        <p:spPr bwMode="auto">
          <a:xfrm>
            <a:off x="576000" y="2138400"/>
            <a:ext cx="1103292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4400" b="0" u="none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712108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92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2pPr>
            <a:lvl3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3pPr>
            <a:lvl4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4pPr>
            <a:lvl5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5pPr>
            <a:lvl6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6pPr>
            <a:lvl7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337527" name=""/>
          <p:cNvSpPr/>
          <p:nvPr/>
        </p:nvSpPr>
        <p:spPr bwMode="auto">
          <a:xfrm>
            <a:off x="558720" y="0"/>
            <a:ext cx="11166480" cy="201780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789005" name=""/>
          <p:cNvSpPr/>
          <p:nvPr/>
        </p:nvSpPr>
        <p:spPr bwMode="auto">
          <a:xfrm>
            <a:off x="566640" y="0"/>
            <a:ext cx="11155320" cy="201132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459072" name=""/>
          <p:cNvSpPr/>
          <p:nvPr/>
        </p:nvSpPr>
        <p:spPr bwMode="auto">
          <a:xfrm>
            <a:off x="498600" y="787320"/>
            <a:ext cx="126720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83945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2520"/>
            <a:ext cx="10969920" cy="1141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4400" b="0" u="none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ctr">
              <a:lnSpc>
                <a:spcPct val="93000"/>
              </a:lnSpc>
              <a:buNone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4400" b="0" u="none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256102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880"/>
            <a:ext cx="1096992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1pPr>
            <a:lvl2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2pPr>
            <a:lvl3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3pPr>
            <a:lvl4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4pPr>
            <a:lvl5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5pPr>
            <a:lvl6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6pPr>
            <a:lvl7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 lang="en-US" sz="3200" b="0" u="none" strike="noStrike">
                <a:solidFill>
                  <a:srgbClr val="000000"/>
                </a:solidFill>
                <a:latin typeface="Arial"/>
              </a:defRPr>
            </a:lvl7pPr>
          </a:lstStyle>
          <a:p>
            <a:pPr marL="343080" indent="-343080" algn="l">
              <a:lnSpc>
                <a:spcPct val="93000"/>
              </a:lnSpc>
              <a:spcAft>
                <a:spcPts val="1426"/>
              </a:spcAft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1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2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3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4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5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  <a:p>
            <a:pPr marL="343080" lvl="6" indent="-343080" algn="l">
              <a:lnSpc>
                <a:spcPct val="93000"/>
              </a:lnSpc>
              <a:spcAft>
                <a:spcPts val="14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r>
              <a:rPr lang="en-US" sz="3200" b="0" u="none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oscar-123458/ES26UAB-411-09" TargetMode="Externa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634021" name=""/>
          <p:cNvSpPr/>
          <p:nvPr/>
        </p:nvSpPr>
        <p:spPr bwMode="auto">
          <a:xfrm>
            <a:off x="0" y="0"/>
            <a:ext cx="121903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4653440" name=""/>
          <p:cNvPicPr/>
          <p:nvPr/>
        </p:nvPicPr>
        <p:blipFill rotWithShape="1">
          <a:blip r:embed="rId3"/>
          <a:srcRect l="0" t="1105" r="0" b="0"/>
          <a:stretch/>
        </p:blipFill>
        <p:spPr bwMode="auto">
          <a:xfrm>
            <a:off x="0" y="0"/>
            <a:ext cx="866772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184206" name=""/>
          <p:cNvSpPr/>
          <p:nvPr/>
        </p:nvSpPr>
        <p:spPr bwMode="auto">
          <a:xfrm flipH="1">
            <a:off x="3711600" y="0"/>
            <a:ext cx="8478720" cy="685656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FFFFFF"/>
              </a:gs>
            </a:gsLst>
            <a:lin ang="0" scaled="1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61813" name=""/>
          <p:cNvSpPr/>
          <p:nvPr/>
        </p:nvSpPr>
        <p:spPr bwMode="auto">
          <a:xfrm>
            <a:off x="7848720" y="1122480"/>
            <a:ext cx="4022640" cy="32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48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560112" name=""/>
          <p:cNvSpPr/>
          <p:nvPr/>
        </p:nvSpPr>
        <p:spPr bwMode="auto">
          <a:xfrm rot="5400000">
            <a:off x="8137440" y="348840"/>
            <a:ext cx="144719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55777" name=""/>
          <p:cNvSpPr/>
          <p:nvPr/>
        </p:nvSpPr>
        <p:spPr bwMode="auto">
          <a:xfrm>
            <a:off x="7851600" y="4546440"/>
            <a:ext cx="4023000" cy="1764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74142" name=""/>
          <p:cNvSpPr/>
          <p:nvPr/>
        </p:nvSpPr>
        <p:spPr bwMode="auto">
          <a:xfrm>
            <a:off x="7848720" y="4873680"/>
            <a:ext cx="4022640" cy="13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4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411-09</a:t>
            </a: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4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772612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Composició de l’equip 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8737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EA81F9AF-2C7A-4A8D-8257-F1FA62287E43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148750" name=""/>
          <p:cNvSpPr/>
          <p:nvPr/>
        </p:nvSpPr>
        <p:spPr bwMode="auto">
          <a:xfrm>
            <a:off x="3890880" y="3638519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Òscar Raneda Halminen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363800" name=""/>
          <p:cNvSpPr/>
          <p:nvPr/>
        </p:nvSpPr>
        <p:spPr bwMode="auto">
          <a:xfrm>
            <a:off x="6513480" y="3638519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 Pulgarín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950390" name=""/>
          <p:cNvSpPr/>
          <p:nvPr/>
        </p:nvSpPr>
        <p:spPr bwMode="auto">
          <a:xfrm>
            <a:off x="3890880" y="5799240"/>
            <a:ext cx="2317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Jan Real López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456399" name=""/>
          <p:cNvSpPr/>
          <p:nvPr/>
        </p:nvSpPr>
        <p:spPr bwMode="auto">
          <a:xfrm>
            <a:off x="6513480" y="5799240"/>
            <a:ext cx="2317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Iker Urruticoechea Puig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679252" name=""/>
          <p:cNvSpPr/>
          <p:nvPr/>
        </p:nvSpPr>
        <p:spPr bwMode="auto">
          <a:xfrm>
            <a:off x="6613560" y="3166920"/>
            <a:ext cx="42987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7403162" name=""/>
          <p:cNvPicPr/>
          <p:nvPr/>
        </p:nvPicPr>
        <p:blipFill rotWithShape="1">
          <a:blip r:embed="rId3"/>
          <a:stretch/>
        </p:blipFill>
        <p:spPr bwMode="auto">
          <a:xfrm>
            <a:off x="6972480" y="4549680"/>
            <a:ext cx="984240" cy="123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5135358" name=""/>
          <p:cNvPicPr/>
          <p:nvPr/>
        </p:nvPicPr>
        <p:blipFill rotWithShape="1">
          <a:blip r:embed="rId4"/>
          <a:srcRect l="13143" t="14756" r="13367" b="18978"/>
          <a:stretch/>
        </p:blipFill>
        <p:spPr bwMode="auto">
          <a:xfrm>
            <a:off x="4290840" y="2306519"/>
            <a:ext cx="1108080" cy="133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1396974" name=""/>
          <p:cNvPicPr/>
          <p:nvPr/>
        </p:nvPicPr>
        <p:blipFill rotWithShape="1">
          <a:blip r:embed="rId5"/>
          <a:stretch/>
        </p:blipFill>
        <p:spPr bwMode="auto">
          <a:xfrm>
            <a:off x="6873840" y="2384280"/>
            <a:ext cx="979560" cy="120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0195982" name=""/>
          <p:cNvPicPr/>
          <p:nvPr/>
        </p:nvPicPr>
        <p:blipFill rotWithShape="1">
          <a:blip r:embed="rId6"/>
          <a:stretch/>
        </p:blipFill>
        <p:spPr bwMode="auto">
          <a:xfrm>
            <a:off x="4343400" y="4572000"/>
            <a:ext cx="1032480" cy="1208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361566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fetes al sprint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83995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893EC7F6-7BFB-4A5C-B6D9-129E3E928F0F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003647" name=""/>
          <p:cNvSpPr/>
          <p:nvPr/>
        </p:nvSpPr>
        <p:spPr bwMode="auto">
          <a:xfrm>
            <a:off x="428760" y="2198520"/>
            <a:ext cx="10068119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realitzades aquest sprint: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1: Creació del entorn Github i Trello. Redacció del document README.md (encarregat: </a:t>
            </a: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Òscar Raneda)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2: Requisits funcionals del GRUP 1: GESTIÓ DE COMPTES I CREACIÓ DE PERFILS D'USUARI, GRUP 2: REALITZACIÓ DE COMANDES i GRUP 3: ENVIAMENT DE COMANDES (encarregat: </a:t>
            </a: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Pérez)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3: Requisits funcionals del GRUP 4: PAGAMENT DE LA COMANDA I GRUP 5: VALORACIÓ DE LA COMANDA (encarregat: Iker Urruticoechea)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4: Requisits funcionals del GRUP 6: FUNCIONALITATS ADDICIONALS i altres consideracions (encarregat: Adam Pérez)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5: Burn-down chart (encarregat: Jan Real)</a:t>
            </a:r>
            <a:endParaRPr lang="es-ES" sz="1600" b="0" u="none" strike="noStrike">
              <a:solidFill>
                <a:srgbClr val="000000"/>
              </a:solidFill>
              <a:latin typeface="Neue Haas Grotesk Text Pro"/>
              <a:ea typeface="Microsoft YaHei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79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79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</a:t>
            </a:r>
            <a:r>
              <a:rPr lang="es-ES" sz="1600" b="0" u="none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asca 6: Passar requisits a format markdown (encarregat: Òscar Raneda)</a:t>
            </a:r>
            <a:endParaRPr lang="en-US" sz="16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2507523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Perfils d’usuari a l’aplicació QUEMENGES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110571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DD21400F-748C-471A-B2CB-199A509BE27D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383160" name=""/>
          <p:cNvSpPr/>
          <p:nvPr/>
        </p:nvSpPr>
        <p:spPr bwMode="auto">
          <a:xfrm>
            <a:off x="428760" y="2198520"/>
            <a:ext cx="10020240" cy="39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Llistat de perfils: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registrat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client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cuiner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repartidor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Sistema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128709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</a:t>
            </a: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495426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9AC86EFB-735D-4754-9A13-AA6F2340FF1B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832609" name=""/>
          <p:cNvSpPr/>
          <p:nvPr/>
        </p:nvSpPr>
        <p:spPr bwMode="auto">
          <a:xfrm>
            <a:off x="428760" y="2198520"/>
            <a:ext cx="11264760" cy="48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 i Usuari registrat: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02: Registrar-se com a usuari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01: Registre amb compte de correu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03: Omplir perfil per poder fer comandes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04: Noms d’usuari únics de +5 caràcters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02: Contrasenyes de +8 caràcters (2 majúscules i 2 especials)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05: Perfils actualitzables en tot moment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06: Eliminar perfil en donar-se de baixa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07: Indicar rols en registrar-se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08: Usuaris poden canviar rols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956418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</a:t>
            </a: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180206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AC0CCDBC-01F7-4FF8-A2D3-A16FC22C7290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003863" name=""/>
          <p:cNvSpPr/>
          <p:nvPr/>
        </p:nvSpPr>
        <p:spPr bwMode="auto">
          <a:xfrm>
            <a:off x="428760" y="2198520"/>
            <a:ext cx="1126476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client: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01: Mostrar plats i menús disponibles, prioritzant aquells que compleixin les restriccions alimentàries de l'usuari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02: Enviar comanda un cop tancada i confirmada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03: Consultar l'historial de comandes prèvies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04: Repetir una comanda de l'historial (si el plat i el cuiner continuen disponibles)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05: Mostrar una aproximació del temps d'entrega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06: Permetre escollir entre vista per plats/menús individuals o vista per llistat de cuiners disponibles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13: Modificar (afegir o treure) els ingredients marcats com a opcionals a la comanda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10312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957656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A20A23C1-EE4B-4D33-827A-2425538B7055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165482" name=""/>
          <p:cNvSpPr/>
          <p:nvPr/>
        </p:nvSpPr>
        <p:spPr bwMode="auto">
          <a:xfrm>
            <a:off x="428760" y="2198520"/>
            <a:ext cx="11264760" cy="40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01: Permetre al client finalitzar i pagar la seva comanda directament des de la interfície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01: Permetre el pagament de la comanda mitjançant targeta bancària o PayPal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02: Connectar i validar la transacció amb la plataforma o passarel·la concreta depenent 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del tipus de pagament seleccionat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03: Garantir la seguretat del pagament del client mitjançant el xifratge de les dades 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(connexió segura) des de l'aplicació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02: Permetre al client valorar aspectes de la comanda un cop finalitzada, com la puntualitat de l'entrega o l'estat del menjar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02: Limitar el sistema per permetre fer només una única valoració per client i comanda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5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03: El sistema de valoracions s'ha de basar visualment i quantitativament en una 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escala d'estrelles de l'1 al 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101974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202020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68F4B938-4267-4F10-8070-5A2E0CC733F3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386564" name=""/>
          <p:cNvSpPr/>
          <p:nvPr/>
        </p:nvSpPr>
        <p:spPr bwMode="auto">
          <a:xfrm>
            <a:off x="428760" y="2198520"/>
            <a:ext cx="1126476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cuiner: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06: Permetre escollir entre vista per plats/menús individuals o vista per llistat de cuiners disponibles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07: Ordenar els llistats per proximitat geogràfica entre el cuiner i l'usuari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08: Cercador per nom de plat i nom de cuiner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09: Permetre als cuiners indicar i aparèixer com a "no disponibles"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10: Consultar l'historial de comandes prèvies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11: Permetre al client reservar una comanda per a quan el cuiner torni a estar disponible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01: Un client no pot tenir més de 3 comandes actives a la vegada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12: Consultar els ingredients i al·lèrgens d'un plat a la comanda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314248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859450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A39BD6F7-FB6A-4AA1-8522-BCF81AEB3571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8220" name=""/>
          <p:cNvSpPr/>
          <p:nvPr/>
        </p:nvSpPr>
        <p:spPr bwMode="auto">
          <a:xfrm>
            <a:off x="428760" y="2198520"/>
            <a:ext cx="1126476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repartidor: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01: Oferir tres opcions de recollida o entrega per a la comanda: repartidor de l’aplicació, entrega pel cuiner o recollida pel client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02: Calcular el cost de l’enviament en funció de la distància entre el client i el cuiner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05: Mostrar la posició actual del repartidor de manera visual mitjançant un mapa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01: Integració amb la interfície de Google Maps per poder mostrar la ubicació del 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repartidor en temps real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741418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67303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4E7EB0F2-7ECC-4E66-99EF-50285784E23A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897580" name=""/>
          <p:cNvSpPr/>
          <p:nvPr/>
        </p:nvSpPr>
        <p:spPr bwMode="auto">
          <a:xfrm>
            <a:off x="428760" y="2198520"/>
            <a:ext cx="11264760" cy="42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Sistema: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01: Els clients poden proposar plats que no estiguin disponibles al menú actual.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02: Només els cuiners poden accedir al menú de plats proposats pels clients.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03: Els cuiners poden acceptar les propostes de plats fetes pels clients i comprometre’s a preparar-les.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04: Es pot crear un xat privat entre el client i el cuiner per comunicar-se sobre els detalls del plat proposat.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05: Els usuaris poden subscriure’s opcionalment a un pla mensual.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06: El sistema inclou un programa de punts que es guanyen cada vegada que es realitza una comanda.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54591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48729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89C15FEC-E9C2-41C3-AB6A-BAC2E2D08C5A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209095" name=""/>
          <p:cNvSpPr/>
          <p:nvPr/>
        </p:nvSpPr>
        <p:spPr bwMode="auto">
          <a:xfrm>
            <a:off x="428760" y="2054160"/>
            <a:ext cx="11264760" cy="47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07: Els punts acumulats es poden utilitzar per obtenir descomptes en el pagament de les comandes.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Altres consideracions: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01: La plataforma està pensada inicialment per ser utilitzada a l’àrea metropolitana de Barcelona.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02: L’aplicació ha d’estar disponible en tres idiomes: català, castellà i anglès.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03: L’aplicació tindrà dues versions: web i mòbil.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04: La versió mòbil haurà de funcionar en dispositius Android.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05: La versió mòbil haurà de funcionar en dispositius amb sistema operatiu iOS.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06: El tipus de lletra de l’aplicació serà Calibri tant per als encapçalats com per a la resta dels continguts.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970988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990166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fld id="{4210F219-D0BF-4EFF-8D8D-58419D4F3911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565346" name=""/>
          <p:cNvSpPr/>
          <p:nvPr/>
        </p:nvSpPr>
        <p:spPr bwMode="auto">
          <a:xfrm>
            <a:off x="428760" y="2306519"/>
            <a:ext cx="11264760" cy="37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07: El color corporatiu de l’aplicació serà el taronja.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08: El logo de l’aplicació haurà d’aparèixer en totes les pantalles.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09: L’aplicació haurà de suportar fins a 1000 usuaris connectats simultàniament.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10: El temps de resposta màxim del sistema serà de 5 mil·lisegons després de rebre una petició.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11: Les dades han d’estar encriptades utilitzant el protocol OpenVPN.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12: La interfície de l’aplicació haurà de ser amigable per a l’usuari.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endParaRPr lang="en-US" sz="1500" b="0" u="none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13: La interfície haurà de ser responsive i adaptar-se a diferents dispositius.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956831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9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Burn-down chart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3457491" name=""/>
          <p:cNvPicPr/>
          <p:nvPr/>
        </p:nvPicPr>
        <p:blipFill rotWithShape="1">
          <a:blip r:embed="rId3"/>
          <a:srcRect l="0" t="17775" r="4" b="4128"/>
          <a:stretch/>
        </p:blipFill>
        <p:spPr bwMode="auto">
          <a:xfrm>
            <a:off x="1828800" y="2025000"/>
            <a:ext cx="8915400" cy="4832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815400" name=""/>
          <p:cNvSpPr/>
          <p:nvPr/>
        </p:nvSpPr>
        <p:spPr bwMode="auto">
          <a:xfrm>
            <a:off x="1116000" y="549360"/>
            <a:ext cx="10166400" cy="11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79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333078" algn="l"/>
                <a:tab pos="10782360" algn="l"/>
              </a:tabLst>
              <a:defRPr/>
            </a:pPr>
            <a:r>
              <a:rPr lang="es-ES" sz="40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Repositori Github</a:t>
            </a:r>
            <a:endParaRPr lang="en-US" sz="4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00121" name=""/>
          <p:cNvSpPr/>
          <p:nvPr/>
        </p:nvSpPr>
        <p:spPr bwMode="auto">
          <a:xfrm>
            <a:off x="8540640" y="6356520"/>
            <a:ext cx="27417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79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8" algn="l"/>
                <a:tab pos="10782360" algn="l"/>
              </a:tabLst>
              <a:defRPr/>
            </a:pPr>
            <a:fld id="{801753A3-9602-EF2A-18A0-0CC567638A3C}" type="slidenum">
              <a:rPr lang="es-ES" sz="1200" b="0" u="none" strike="noStrike">
                <a:solidFill>
                  <a:srgbClr val="8B8B8B"/>
                </a:solidFill>
                <a:latin typeface="Neue Haas Grotesk Text Pro"/>
                <a:ea typeface="DejaVu Sans"/>
              </a:rPr>
              <a:t/>
            </a:fld>
            <a:endParaRPr lang="en-US" sz="1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073496" name=""/>
          <p:cNvSpPr/>
          <p:nvPr/>
        </p:nvSpPr>
        <p:spPr bwMode="auto">
          <a:xfrm>
            <a:off x="428760" y="2306518"/>
            <a:ext cx="11268360" cy="3646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79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9410760" algn="l"/>
                <a:tab pos="10134720" algn="l"/>
                <a:tab pos="10858680" algn="l"/>
              </a:tabLst>
              <a:defRPr/>
            </a:pPr>
            <a:r>
              <a:rPr lang="es-ES" sz="18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Enllaç: </a:t>
            </a:r>
            <a:r>
              <a:rPr lang="es-ES" sz="1800" b="0" i="0" u="sng" strike="noStrike" cap="none" spc="0">
                <a:solidFill>
                  <a:srgbClr val="000000"/>
                </a:solidFill>
                <a:latin typeface="Neue Haas Grotesk Text Pro"/>
                <a:ea typeface="Neue Haas Grotesk Text Pro"/>
                <a:cs typeface="Neue Haas Grotesk Text Pro"/>
                <a:hlinkClick r:id="rId3" tooltip=""/>
              </a:rPr>
              <a:t>https://github.com/oscar-123458/ES26UAB-411-09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364854" name=""/>
          <p:cNvSpPr/>
          <p:nvPr/>
        </p:nvSpPr>
        <p:spPr bwMode="auto">
          <a:xfrm>
            <a:off x="0" y="0"/>
            <a:ext cx="1219032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1346357" name=""/>
          <p:cNvPicPr/>
          <p:nvPr/>
        </p:nvPicPr>
        <p:blipFill rotWithShape="1">
          <a:blip r:embed="rId3"/>
          <a:srcRect l="0" t="1105" r="0" b="0"/>
          <a:stretch/>
        </p:blipFill>
        <p:spPr bwMode="auto">
          <a:xfrm>
            <a:off x="0" y="0"/>
            <a:ext cx="866772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3767084" name=""/>
          <p:cNvSpPr/>
          <p:nvPr/>
        </p:nvSpPr>
        <p:spPr bwMode="auto">
          <a:xfrm flipH="1">
            <a:off x="3711600" y="0"/>
            <a:ext cx="8478720" cy="685656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FFFFFF"/>
              </a:gs>
            </a:gsLst>
            <a:lin ang="0" scaled="1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875648" name=""/>
          <p:cNvSpPr/>
          <p:nvPr/>
        </p:nvSpPr>
        <p:spPr bwMode="auto">
          <a:xfrm>
            <a:off x="7848720" y="1122480"/>
            <a:ext cx="4022640" cy="320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>
              <a:lnSpc>
                <a:spcPct val="90000"/>
              </a:lnSpc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4800" b="1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289564" name=""/>
          <p:cNvSpPr/>
          <p:nvPr/>
        </p:nvSpPr>
        <p:spPr bwMode="auto">
          <a:xfrm rot="5400000">
            <a:off x="8137440" y="348840"/>
            <a:ext cx="144719" cy="703440"/>
          </a:xfrm>
          <a:prstGeom prst="rect">
            <a:avLst/>
          </a:prstGeom>
          <a:solidFill>
            <a:srgbClr val="C34D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040586" name=""/>
          <p:cNvSpPr/>
          <p:nvPr/>
        </p:nvSpPr>
        <p:spPr bwMode="auto">
          <a:xfrm>
            <a:off x="7851600" y="4546440"/>
            <a:ext cx="4023000" cy="1764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-29160" rIns="90000" bIns="-29160" anchor="ctr">
            <a:noAutofit/>
          </a:bodyPr>
          <a:p>
            <a:pPr>
              <a:lnSpc>
                <a:spcPct val="93000"/>
              </a:lnSpc>
              <a:tabLst>
                <a:tab pos="0" algn="l"/>
                <a:tab pos="449280" algn="l"/>
                <a:tab pos="898560" algn="l"/>
                <a:tab pos="1347840" algn="l"/>
                <a:tab pos="1797120" algn="l"/>
                <a:tab pos="2246400" algn="l"/>
                <a:tab pos="2695680" algn="l"/>
                <a:tab pos="3144960" algn="l"/>
                <a:tab pos="3594240" algn="l"/>
                <a:tab pos="4043519" algn="l"/>
                <a:tab pos="4492800" algn="l"/>
                <a:tab pos="4941720" algn="l"/>
                <a:tab pos="5391000" algn="l"/>
                <a:tab pos="5840280" algn="l"/>
                <a:tab pos="6289560" algn="l"/>
                <a:tab pos="6738840" algn="l"/>
                <a:tab pos="7188120" algn="l"/>
                <a:tab pos="7637400" algn="l"/>
                <a:tab pos="8086680" algn="l"/>
                <a:tab pos="8535960" algn="l"/>
                <a:tab pos="8985240" algn="l"/>
              </a:tabLst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8952044" name=""/>
          <p:cNvSpPr/>
          <p:nvPr/>
        </p:nvSpPr>
        <p:spPr bwMode="auto">
          <a:xfrm>
            <a:off x="7848720" y="4873680"/>
            <a:ext cx="4022640" cy="13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4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411-09</a:t>
            </a: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pos="0" algn="l"/>
                <a:tab pos="447840" algn="l"/>
                <a:tab pos="896760" algn="l"/>
                <a:tab pos="1346040" algn="l"/>
                <a:tab pos="1795320" algn="l"/>
                <a:tab pos="2244600" algn="l"/>
                <a:tab pos="2693880" algn="l"/>
                <a:tab pos="3143160" algn="l"/>
                <a:tab pos="3592440" algn="l"/>
                <a:tab pos="4041720" algn="l"/>
                <a:tab pos="4491000" algn="l"/>
                <a:tab pos="4940280" algn="l"/>
                <a:tab pos="5389560" algn="l"/>
                <a:tab pos="5838840" algn="l"/>
                <a:tab pos="6288120" algn="l"/>
                <a:tab pos="6737400" algn="l"/>
                <a:tab pos="7186680" algn="l"/>
                <a:tab pos="7635960" algn="l"/>
                <a:tab pos="8085240" algn="l"/>
                <a:tab pos="8534520" algn="l"/>
                <a:tab pos="8983800" algn="l"/>
                <a:tab pos="8985240" algn="l"/>
                <a:tab pos="9434520" algn="l"/>
                <a:tab pos="9883800" algn="l"/>
                <a:tab pos="10333079" algn="l"/>
                <a:tab pos="10782360" algn="l"/>
              </a:tabLst>
              <a:defRPr/>
            </a:pPr>
            <a:r>
              <a:rPr lang="es-ES" sz="1400" b="0" u="none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lang="en-US" sz="14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2</cp:revision>
  <dcterms:created xsi:type="dcterms:W3CDTF">2026-03-15T19:18:51Z</dcterms:created>
  <dcterms:modified xsi:type="dcterms:W3CDTF">2026-03-15T19:16:06Z</dcterms:modified>
</cp:coreProperties>
</file>