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3588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5400000">
            <a:off x="865080" y="348840"/>
            <a:ext cx="144720" cy="703440"/>
          </a:xfrm>
          <a:prstGeom prst="rect">
            <a:avLst/>
          </a:prstGeom>
          <a:solidFill>
            <a:srgbClr val="C34D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 flipV="1">
            <a:off x="577800" y="4497840"/>
            <a:ext cx="11033280" cy="17640"/>
          </a:xfrm>
          <a:prstGeom prst="rect">
            <a:avLst/>
          </a:prstGeom>
          <a:solidFill>
            <a:srgbClr val="DBBD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29160" rIns="90000" bIns="-2916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76000" y="2138400"/>
            <a:ext cx="1103292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93000"/>
              </a:lnSpc>
              <a:buNone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93000"/>
              </a:lnSpc>
              <a:buNone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10969920" cy="397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marL="343080" indent="-343080" algn="l">
              <a:lnSpc>
                <a:spcPct val="93000"/>
              </a:lnSpc>
              <a:spcAft>
                <a:spcPts val="1426"/>
              </a:spcAft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marL="343080" lvl="1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marL="343080" lvl="2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marL="343080" lvl="3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marL="343080" lvl="4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marL="343080" lvl="5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marL="343080" lvl="6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343080" indent="-343080" algn="l">
              <a:lnSpc>
                <a:spcPct val="93000"/>
              </a:lnSpc>
              <a:spcAft>
                <a:spcPts val="1426"/>
              </a:spcAft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lvl="1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lvl="2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lvl="3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lvl="4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lvl="5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lvl="6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558720" y="0"/>
            <a:ext cx="11166480" cy="2017800"/>
          </a:xfrm>
          <a:prstGeom prst="rect">
            <a:avLst/>
          </a:prstGeom>
          <a:solidFill>
            <a:srgbClr val="C34D54"/>
          </a:solidFill>
          <a:ln w="9360">
            <a:solidFill>
              <a:srgbClr val="F0E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"/>
          <p:cNvSpPr/>
          <p:nvPr/>
        </p:nvSpPr>
        <p:spPr>
          <a:xfrm>
            <a:off x="566640" y="0"/>
            <a:ext cx="11155320" cy="2011320"/>
          </a:xfrm>
          <a:prstGeom prst="rect">
            <a:avLst/>
          </a:prstGeom>
          <a:solidFill>
            <a:srgbClr val="C34D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"/>
          <p:cNvSpPr/>
          <p:nvPr/>
        </p:nvSpPr>
        <p:spPr>
          <a:xfrm>
            <a:off x="498600" y="787320"/>
            <a:ext cx="126720" cy="703440"/>
          </a:xfrm>
          <a:prstGeom prst="rect">
            <a:avLst/>
          </a:prstGeom>
          <a:solidFill>
            <a:srgbClr val="C34D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2520"/>
            <a:ext cx="10969920" cy="114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93000"/>
              </a:lnSpc>
              <a:buNone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93000"/>
              </a:lnSpc>
              <a:buNone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10969920" cy="397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marL="343080" indent="-343080" algn="l">
              <a:lnSpc>
                <a:spcPct val="93000"/>
              </a:lnSpc>
              <a:spcAft>
                <a:spcPts val="1426"/>
              </a:spcAft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marL="343080" lvl="1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marL="343080" lvl="2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marL="343080" lvl="3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marL="343080" lvl="4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marL="343080" lvl="5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marL="343080" lvl="6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343080" indent="-343080" algn="l">
              <a:lnSpc>
                <a:spcPct val="93000"/>
              </a:lnSpc>
              <a:spcAft>
                <a:spcPts val="1426"/>
              </a:spcAft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lvl="1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lvl="2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lvl="3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lvl="4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lvl="5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lvl="6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"/>
          <p:cNvPicPr/>
          <p:nvPr/>
        </p:nvPicPr>
        <p:blipFill>
          <a:blip r:embed="rId1"/>
          <a:srcRect l="0" t="1105" r="0" b="0"/>
          <a:stretch/>
        </p:blipFill>
        <p:spPr>
          <a:xfrm>
            <a:off x="0" y="0"/>
            <a:ext cx="866772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"/>
          <p:cNvSpPr/>
          <p:nvPr/>
        </p:nvSpPr>
        <p:spPr>
          <a:xfrm flipH="1">
            <a:off x="3711600" y="0"/>
            <a:ext cx="8478720" cy="685656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FFFFFF"/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7848720" y="1122480"/>
            <a:ext cx="4022640" cy="320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48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Enginyeria del Software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 rot="5400000">
            <a:off x="8137440" y="348840"/>
            <a:ext cx="144720" cy="703440"/>
          </a:xfrm>
          <a:prstGeom prst="rect">
            <a:avLst/>
          </a:prstGeom>
          <a:solidFill>
            <a:srgbClr val="C34D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7851600" y="4546440"/>
            <a:ext cx="4023000" cy="17640"/>
          </a:xfrm>
          <a:prstGeom prst="rect">
            <a:avLst/>
          </a:prstGeom>
          <a:solidFill>
            <a:srgbClr val="DBBDBF"/>
          </a:solidFill>
          <a:ln w="3240">
            <a:solidFill>
              <a:srgbClr val="DBBD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-29160" rIns="90000" bIns="-2916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7848720" y="4873680"/>
            <a:ext cx="4022640" cy="135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Bef>
                <a:spcPts val="10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Pràctiques: Grup 411-09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Sprint 01: Requisits Funcionals i No Funcionals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80" algn="l"/>
                <a:tab pos="10782360" algn="l"/>
              </a:tabLst>
            </a:pP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Composició de l’equip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fld id="{EA81F9AF-2C7A-4A8D-8257-F1FA62287E43}" type="slidenum">
              <a:rPr lang="es-ES" sz="1200" b="0" u="none" strike="noStrike">
                <a:solidFill>
                  <a:srgbClr val="8B8B8B"/>
                </a:solidFill>
                <a:effectLst/>
                <a:uFillTx/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3890880" y="3638520"/>
            <a:ext cx="23176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Òscar Raneda Halminen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6513480" y="3638520"/>
            <a:ext cx="23176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Adam Pérez Pulgarín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3890880" y="5799240"/>
            <a:ext cx="2317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Jan Real López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6513480" y="5799240"/>
            <a:ext cx="23176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Iker Urruticoechea Puig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6613560" y="3166920"/>
            <a:ext cx="42987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"/>
          <p:cNvPicPr/>
          <p:nvPr/>
        </p:nvPicPr>
        <p:blipFill>
          <a:blip r:embed="rId1"/>
          <a:stretch/>
        </p:blipFill>
        <p:spPr>
          <a:xfrm>
            <a:off x="6972480" y="4549680"/>
            <a:ext cx="984240" cy="1230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" name=""/>
          <p:cNvPicPr/>
          <p:nvPr/>
        </p:nvPicPr>
        <p:blipFill>
          <a:blip r:embed="rId2"/>
          <a:srcRect l="13143" t="14756" r="13368" b="18978"/>
          <a:stretch/>
        </p:blipFill>
        <p:spPr>
          <a:xfrm>
            <a:off x="4290840" y="2306520"/>
            <a:ext cx="1108080" cy="133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" name=""/>
          <p:cNvPicPr/>
          <p:nvPr/>
        </p:nvPicPr>
        <p:blipFill>
          <a:blip r:embed="rId3"/>
          <a:stretch/>
        </p:blipFill>
        <p:spPr>
          <a:xfrm>
            <a:off x="6873840" y="2384280"/>
            <a:ext cx="979560" cy="120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" name=""/>
          <p:cNvPicPr/>
          <p:nvPr/>
        </p:nvPicPr>
        <p:blipFill>
          <a:blip r:embed="rId4"/>
          <a:stretch/>
        </p:blipFill>
        <p:spPr>
          <a:xfrm>
            <a:off x="4343400" y="4572000"/>
            <a:ext cx="1032480" cy="120816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80" algn="l"/>
                <a:tab pos="10782360" algn="l"/>
              </a:tabLst>
            </a:pP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Tasques fetes al sprint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fld id="{893EC7F6-7BFB-4A5C-B6D9-129E3E928F0F}" type="slidenum">
              <a:rPr lang="es-ES" sz="1200" b="0" u="none" strike="noStrike">
                <a:solidFill>
                  <a:srgbClr val="8B8B8B"/>
                </a:solidFill>
                <a:effectLst/>
                <a:uFillTx/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428760" y="2198520"/>
            <a:ext cx="10020240" cy="42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Tasques realitzades aquest sprint: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Microsoft YaHei"/>
              </a:rPr>
              <a:t>Tasca 1: Creació del entorn Github i Trello (encarregat: 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Òscar Raneda)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Microsoft YaHei"/>
              </a:rPr>
              <a:t>Tasca 2: Requisits funcionals del GRUP 1: GESTIÓ DE COMPTES I CREACIÓ DE PERFILS D'USUARI, GRUP 2: REALITZACIÓ DE COMANDES i GRUP 3: ENVIAMENT DE COMANDES (encarregat: 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Adam Pérez)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Microsoft YaHei"/>
              </a:rPr>
              <a:t>Tasca 3: Requisits funcionals del GRUP 4: PAGAMENT DE LA COMANDA I GRUP 5: VALORACIÓ DE LA COMANDA (encarregat: Iker Urruticoechea)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Microsoft YaHei"/>
              </a:rPr>
              <a:t>Tasca 4: Requisits funcionals del GRUP 6: FUNCIONALITATS ADDICIONALS i altres consideracions (encarregat: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Microsoft YaHei"/>
              </a:rPr>
              <a:t>Tasca 5: Burn-down chart (encarregat: Jan Real)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80" algn="l"/>
                <a:tab pos="10782360" algn="l"/>
              </a:tabLst>
            </a:pP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Perfils d’usuari a l’aplicació QUEMENGES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fld id="{DD21400F-748C-471A-B2CB-199A509BE27D}" type="slidenum">
              <a:rPr lang="es-ES" sz="1200" b="0" u="none" strike="noStrike">
                <a:solidFill>
                  <a:srgbClr val="8B8B8B"/>
                </a:solidFill>
                <a:effectLst/>
                <a:uFillTx/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428760" y="2198520"/>
            <a:ext cx="10020240" cy="39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Llistat de perfils: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Usuari no registrat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Usuari registrat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Usuari client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Usuari cuiner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Usuari repartidor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Sistema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80" algn="l"/>
                <a:tab pos="10782360" algn="l"/>
              </a:tabLst>
            </a:pP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Requisi</a:t>
            </a: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fld id="{9AC86EFB-735D-4754-9A13-AA6F2340FF1B}" type="slidenum">
              <a:rPr lang="es-ES" sz="1200" b="0" u="none" strike="noStrike">
                <a:solidFill>
                  <a:srgbClr val="8B8B8B"/>
                </a:solidFill>
                <a:effectLst/>
                <a:uFillTx/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428760" y="2198520"/>
            <a:ext cx="11264760" cy="48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Usuari no registrat i Usuari registrat: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02: Registrar-se com a usuari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01: Registre amb compte de correu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03: Omplir perfil per poder fer comandes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04: Noms d’usuari únics de +5 caràcters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02: Contrasenyes de +8 caràcters (2 majúscules i 2 especials)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05: Perfils actualitzables en tot moment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06: Eliminar perfil en donar-se de baixa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07: Indicar rols en registrar-se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08: Usuaris poden canviar rols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80" algn="l"/>
                <a:tab pos="10782360" algn="l"/>
              </a:tabLst>
            </a:pP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Requisit</a:t>
            </a: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fld id="{AC0CCDBC-01F7-4FF8-A2D3-A16FC22C7290}" type="slidenum">
              <a:rPr lang="es-ES" sz="1200" b="0" u="none" strike="noStrike">
                <a:solidFill>
                  <a:srgbClr val="8B8B8B"/>
                </a:solidFill>
                <a:effectLst/>
                <a:uFillTx/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428760" y="2198520"/>
            <a:ext cx="11264760" cy="44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Usuari client: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01: Mostrar plats i menús disponibles, prioritzant aquells que compleixin les restriccions alimentàries de l'usuari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02: Enviar comanda un cop tancada i confirmada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03: Consultar l'historial de comandes prèvies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04: Repetir una comanda de l'historial (si el plat i el cuiner continuen disponibles)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05: Mostrar una aproximació del temps d'entrega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06: Permetre escollir entre vista per plats/menús individuals o vista per llistat de cuiners disponibles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13: Modificar (afegir o treure) els ingredients marcats com a opcionals a la comanda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80" algn="l"/>
                <a:tab pos="10782360" algn="l"/>
              </a:tabLst>
            </a:pP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Requisits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fld id="{A20A23C1-EE4B-4D33-827A-2425538B7055}" type="slidenum">
              <a:rPr lang="es-ES" sz="1200" b="0" u="none" strike="noStrike">
                <a:solidFill>
                  <a:srgbClr val="8B8B8B"/>
                </a:solidFill>
                <a:effectLst/>
                <a:uFillTx/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428760" y="2198520"/>
            <a:ext cx="11264760" cy="40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01: Permetre al client finalitzar i pagar la seva comanda directament des de la interfície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01: Permetre el pagament de la comanda mitjançant targeta bancària o PayPal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02: Connectar i validar la transacció amb la plataforma o passarel·la concreta depenent 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del tipus de pagament seleccionat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03: Garantir la seguretat del pagament del client mitjançant el xifratge de les dades 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(connexió segura) des de l'aplicació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02: Permetre al client valorar aspectes de la comanda un cop finalitzada, com la puntualitat de l'entrega o l'estat del menjar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02: Limitar el sistema per permetre fer només una única valoració per client i comanda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03: El sistema de valoracions s'ha de basar visualment i quantitativament en una 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escala d'estrelles de l'1 al 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80" algn="l"/>
                <a:tab pos="10782360" algn="l"/>
              </a:tabLst>
            </a:pP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Requisits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fld id="{68F4B938-4267-4F10-8070-5A2E0CC733F3}" type="slidenum">
              <a:rPr lang="es-ES" sz="1200" b="0" u="none" strike="noStrike">
                <a:solidFill>
                  <a:srgbClr val="8B8B8B"/>
                </a:solidFill>
                <a:effectLst/>
                <a:uFillTx/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428760" y="2198520"/>
            <a:ext cx="11264760" cy="44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Usuari cuiner: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06: Permetre escollir entre vista per plats/menús individuals o vista per llistat de cuiners disponibles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07: Ordenar els llistats per proximitat geogràfica entre el cuiner i l'usuari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08: Cercador per nom de plat i nom de cuiner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09: Permetre als cuiners indicar i aparèixer com a "no disponibles"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10: Consultar l'historial de comandes prèvies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11: Permetre al client reservar una comanda per a quan el cuiner torni a estar disponible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01: Un client no pot tenir més de 3 comandes actives a la vegada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12: Consultar els ingredients i al·lèrgens d'un plat a la comanda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/>
          <p:nvPr/>
        </p:nvSpPr>
        <p:spPr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80" algn="l"/>
                <a:tab pos="10782360" algn="l"/>
              </a:tabLst>
            </a:pP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Requisits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fld id="{A39BD6F7-FB6A-4AA1-8522-BCF81AEB3571}" type="slidenum">
              <a:rPr lang="es-ES" sz="1200" b="0" u="none" strike="noStrike">
                <a:solidFill>
                  <a:srgbClr val="8B8B8B"/>
                </a:solidFill>
                <a:effectLst/>
                <a:uFillTx/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428760" y="2198520"/>
            <a:ext cx="11264760" cy="30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Usuari repartidor: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01: Oferir tres opcions de recollida o entrega per a la comanda: repartidor de l’aplicació, entrega pel cuiner o recollida pel client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02: Calcular el cost de l’enviament en funció de la distància entre el client i el cuiner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05: Mostrar la posició actual del repartidor de manera visual mitjançant un mapa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01: Integració amb la interfície de Google Maps per poder mostrar la ubicació del 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repartidor en temps real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80" algn="l"/>
                <a:tab pos="10782360" algn="l"/>
              </a:tabLst>
            </a:pP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Requisits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fld id="{4E7EB0F2-7ECC-4E66-99EF-50285784E23A}" type="slidenum">
              <a:rPr lang="es-ES" sz="1200" b="0" u="none" strike="noStrike">
                <a:solidFill>
                  <a:srgbClr val="8B8B8B"/>
                </a:solidFill>
                <a:effectLst/>
                <a:uFillTx/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428760" y="2198520"/>
            <a:ext cx="11264760" cy="42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Sistema: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01: Els clients poden proposar plats que no estiguin disponibles al menú actual.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02: Només els cuiners poden accedir al menú de plats proposats pels clients.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03: Els cuiners poden acceptar les propostes de plats fetes pels clients i comprometre’s a preparar-les.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04: Es pot crear un xat privat entre el client i el cuiner per comunicar-se sobre els detalls del plat proposat.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05: Els usuaris poden subscriure’s opcionalment a un pla mensual.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06: El sistema inclou un programa de punts que es guanyen cada vegada que es realitza una comanda.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80" algn="l"/>
                <a:tab pos="10782360" algn="l"/>
              </a:tabLst>
            </a:pP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Requisits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fld id="{89C15FEC-E9C2-41C3-AB6A-BAC2E2D08C5A}" type="slidenum">
              <a:rPr lang="es-ES" sz="1200" b="0" u="none" strike="noStrike">
                <a:solidFill>
                  <a:srgbClr val="8B8B8B"/>
                </a:solidFill>
                <a:effectLst/>
                <a:uFillTx/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428760" y="2054160"/>
            <a:ext cx="11264760" cy="47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RF 07: Els punts acumulats es poden utilitzar per obtenir descomptes en el pagament de les comandes.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Altres consideracions: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01: La plataforma està pensada inicialment per ser utilitzada a l’àrea metropolitana de Barcelona.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02: L’aplicació ha d’estar disponible en tres idiomes: català, castellà i anglès.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03: L’aplicació tindrà dues versions: web i mòbil.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04: La versió mòbil haurà de funcionar en dispositius Android.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05: La versió mòbil haurà de funcionar en dispositius amb sistema operatiu iOS.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06: El tipus de lletra de l’aplicació serà Calibri tant per als encapçalats com per a la resta dels continguts.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80" algn="l"/>
                <a:tab pos="10782360" algn="l"/>
              </a:tabLst>
            </a:pP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Requisits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fld id="{4210F219-D0BF-4EFF-8D8D-58419D4F3911}" type="slidenum">
              <a:rPr lang="es-ES" sz="1200" b="0" u="none" strike="noStrike">
                <a:solidFill>
                  <a:srgbClr val="8B8B8B"/>
                </a:solidFill>
                <a:effectLst/>
                <a:uFillTx/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428760" y="2306520"/>
            <a:ext cx="11264760" cy="37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07: El color corporatiu de l’aplicació serà el taronja.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08: El logo de l’aplicació haurà d’aparèixer en totes les pantalles.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09: L’aplicació haurà de suportar fins a 1000 usuaris connectats simultàniament.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10: El temps de resposta màxim del sistema serà de 5 mil·lisegons després de rebre una petició.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11: Les dades han d’estar encriptades utilitzant el protocol OpenVPN.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12: La interfície de l’aplicació haurà de ser amigable per a l’usuari.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RNF 13: La interfície haurà de ser responsive i adaptar-se a diferents dispositius.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80" algn="l"/>
                <a:tab pos="10782360" algn="l"/>
              </a:tabLst>
            </a:pPr>
            <a:r>
              <a:rPr lang="es-ES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Burn-down chart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" name=""/>
          <p:cNvPicPr/>
          <p:nvPr/>
        </p:nvPicPr>
        <p:blipFill>
          <a:blip r:embed="rId1"/>
          <a:srcRect l="0" t="17775" r="4" b="4128"/>
          <a:stretch/>
        </p:blipFill>
        <p:spPr>
          <a:xfrm>
            <a:off x="1828800" y="2025000"/>
            <a:ext cx="8915400" cy="483264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"/>
          <p:cNvPicPr/>
          <p:nvPr/>
        </p:nvPicPr>
        <p:blipFill>
          <a:blip r:embed="rId1"/>
          <a:srcRect l="0" t="1105" r="0" b="0"/>
          <a:stretch/>
        </p:blipFill>
        <p:spPr>
          <a:xfrm>
            <a:off x="0" y="0"/>
            <a:ext cx="866772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"/>
          <p:cNvSpPr/>
          <p:nvPr/>
        </p:nvSpPr>
        <p:spPr>
          <a:xfrm flipH="1">
            <a:off x="3711600" y="0"/>
            <a:ext cx="8478720" cy="685656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FFFFFF"/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7848720" y="1122480"/>
            <a:ext cx="4022640" cy="320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48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Enginyeria del Software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 rot="5400000">
            <a:off x="8137440" y="348840"/>
            <a:ext cx="144720" cy="703440"/>
          </a:xfrm>
          <a:prstGeom prst="rect">
            <a:avLst/>
          </a:prstGeom>
          <a:solidFill>
            <a:srgbClr val="C34D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7851600" y="4546440"/>
            <a:ext cx="4023000" cy="17640"/>
          </a:xfrm>
          <a:prstGeom prst="rect">
            <a:avLst/>
          </a:prstGeom>
          <a:solidFill>
            <a:srgbClr val="DBBDBF"/>
          </a:solidFill>
          <a:ln w="3240">
            <a:solidFill>
              <a:srgbClr val="DBBD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-29160" rIns="90000" bIns="-2916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20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7848720" y="4873680"/>
            <a:ext cx="4022640" cy="135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Bef>
                <a:spcPts val="10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Pràctiques: Grup 411-09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80" algn="l"/>
                <a:tab pos="1078236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  <a:ea typeface="DejaVu Sans"/>
              </a:rPr>
              <a:t>Sprint 01: Requisits Funcionals i No Funcionals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34459</TotalTime>
  <Application>LibreOffice/26.2.1.2$Linux_X86_64 LibreOffice_project/8399f6259d8c87f40e7255cdb3c9b958f5e08948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2026-03-15T19:18:51Z</dcterms:created>
  <dc:creator/>
  <dc:description/>
  <dc:language>en-US</dc:language>
  <cp:lastModifiedBy/>
  <dcterms:modified xsi:type="dcterms:W3CDTF">2026-03-15T19:26:47Z</dcterms:modified>
  <cp:revision>1</cp:revision>
  <dc:subject/>
  <dc:title/>
</cp:coreProperties>
</file>