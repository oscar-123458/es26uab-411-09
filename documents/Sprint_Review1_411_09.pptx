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9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_rels/slide9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media/image3.png" ContentType="image/png"/>
  <Override PartName="/ppt/media/image1.jpeg" ContentType="image/jpeg"/>
  <Override PartName="/ppt/media/image4.jpeg" ContentType="image/jpeg"/>
  <Override PartName="/ppt/media/image2.png" ContentType="image/png"/>
  <Override PartName="/ppt/media/image5.png" ContentType="image/png"/>
  <Override PartName="/ppt/media/image6.png" ContentType="image/png"/>
  <Override PartName="/ppt/media/image7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12193587" cy="6858000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GB" sz="4400" spc="-1" strike="noStrike">
                <a:latin typeface="Arial"/>
              </a:rPr>
              <a:t>Click to move the slide</a:t>
            </a:r>
            <a:endParaRPr b="0" lang="en-GB" sz="4400" spc="-1" strike="noStrike"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r>
              <a:rPr b="0" lang="en-GB" sz="2000" spc="-1" strike="noStrike">
                <a:latin typeface="Arial"/>
              </a:rPr>
              <a:t>Click to edit the notes format</a:t>
            </a:r>
            <a:endParaRPr b="0" lang="en-GB" sz="2000" spc="-1" strike="noStrike"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r>
              <a:rPr b="0" lang="en-GB" sz="1400" spc="-1" strike="noStrike">
                <a:latin typeface="Times New Roman"/>
              </a:rPr>
              <a:t>&lt;header&gt;</a:t>
            </a:r>
            <a:endParaRPr b="0" lang="en-GB" sz="1400" spc="-1" strike="noStrike">
              <a:latin typeface="Times New Roman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</p:spPr>
        <p:txBody>
          <a:bodyPr lIns="0" rIns="0" tIns="0" bIns="0">
            <a:noAutofit/>
          </a:bodyPr>
          <a:p>
            <a:pPr algn="r"/>
            <a:r>
              <a:rPr b="0" lang="en-GB" sz="1400" spc="-1" strike="noStrike">
                <a:latin typeface="Times New Roman"/>
              </a:rPr>
              <a:t>&lt;date/time&gt;</a:t>
            </a:r>
            <a:endParaRPr b="0" lang="en-GB" sz="1400" spc="-1" strike="noStrike">
              <a:latin typeface="Times New Roman"/>
            </a:endParaRPr>
          </a:p>
        </p:txBody>
      </p:sp>
      <p:sp>
        <p:nvSpPr>
          <p:cNvPr id="85" name="PlaceHolder 5"/>
          <p:cNvSpPr>
            <a:spLocks noGrp="1"/>
          </p:cNvSpPr>
          <p:nvPr>
            <p:ph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</p:spPr>
        <p:txBody>
          <a:bodyPr lIns="0" rIns="0" tIns="0" bIns="0" anchor="b">
            <a:noAutofit/>
          </a:bodyPr>
          <a:p>
            <a:r>
              <a:rPr b="0" lang="en-GB" sz="1400" spc="-1" strike="noStrike">
                <a:latin typeface="Times New Roman"/>
              </a:rPr>
              <a:t>&lt;footer&gt;</a:t>
            </a:r>
            <a:endParaRPr b="0" lang="en-GB" sz="1400" spc="-1" strike="noStrike">
              <a:latin typeface="Times New Roman"/>
            </a:endParaRPr>
          </a:p>
        </p:txBody>
      </p:sp>
      <p:sp>
        <p:nvSpPr>
          <p:cNvPr id="86" name="PlaceHolder 6"/>
          <p:cNvSpPr>
            <a:spLocks noGrp="1"/>
          </p:cNvSpPr>
          <p:nvPr>
            <p:ph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</p:spPr>
        <p:txBody>
          <a:bodyPr lIns="0" rIns="0" tIns="0" bIns="0" anchor="b">
            <a:noAutofit/>
          </a:bodyPr>
          <a:p>
            <a:pPr algn="r"/>
            <a:fld id="{7CD1CFE3-E65F-4C2C-8AAB-4E83E7B23311}" type="slidenum">
              <a:rPr b="0" lang="en-GB" sz="1400" spc="-1" strike="noStrike">
                <a:latin typeface="Times New Roman"/>
              </a:rPr>
              <a:t>&lt;number&gt;</a:t>
            </a:fld>
            <a:endParaRPr b="0" lang="en-GB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1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GB" sz="2000" spc="-1" strike="noStrike">
              <a:latin typeface="Arial"/>
            </a:endParaRPr>
          </a:p>
        </p:txBody>
      </p:sp>
      <p:sp>
        <p:nvSpPr>
          <p:cNvPr id="141" name="Custom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GB" sz="2000" spc="-1" strike="noStrike">
              <a:latin typeface="Arial"/>
            </a:endParaRPr>
          </a:p>
        </p:txBody>
      </p:sp>
      <p:sp>
        <p:nvSpPr>
          <p:cNvPr id="144" name="Custom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GB" sz="2000" spc="-1" strike="noStrike">
              <a:latin typeface="Arial"/>
            </a:endParaRPr>
          </a:p>
        </p:txBody>
      </p:sp>
      <p:sp>
        <p:nvSpPr>
          <p:cNvPr id="147" name="Custom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GB" sz="2000" spc="-1" strike="noStrike">
              <a:latin typeface="Arial"/>
            </a:endParaRPr>
          </a:p>
        </p:txBody>
      </p:sp>
      <p:sp>
        <p:nvSpPr>
          <p:cNvPr id="150" name="Custom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GB" sz="2000" spc="-1" strike="noStrike">
              <a:latin typeface="Arial"/>
            </a:endParaRPr>
          </a:p>
        </p:txBody>
      </p:sp>
      <p:sp>
        <p:nvSpPr>
          <p:cNvPr id="153" name="Custom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GB" sz="2000" spc="-1" strike="noStrike">
              <a:latin typeface="Arial"/>
            </a:endParaRPr>
          </a:p>
        </p:txBody>
      </p:sp>
      <p:sp>
        <p:nvSpPr>
          <p:cNvPr id="156" name="Custom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GB" sz="2000" spc="-1" strike="noStrike">
              <a:latin typeface="Arial"/>
            </a:endParaRPr>
          </a:p>
        </p:txBody>
      </p:sp>
      <p:sp>
        <p:nvSpPr>
          <p:cNvPr id="159" name="Custom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GB" sz="2000" spc="-1" strike="noStrike">
              <a:latin typeface="Arial"/>
            </a:endParaRPr>
          </a:p>
        </p:txBody>
      </p:sp>
      <p:sp>
        <p:nvSpPr>
          <p:cNvPr id="162" name="Custom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GB" sz="2000" spc="-1" strike="noStrike">
              <a:latin typeface="Arial"/>
            </a:endParaRPr>
          </a:p>
        </p:txBody>
      </p:sp>
      <p:sp>
        <p:nvSpPr>
          <p:cNvPr id="165" name="Custom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GB" sz="2000" spc="-1" strike="noStrike">
              <a:latin typeface="Arial"/>
            </a:endParaRPr>
          </a:p>
        </p:txBody>
      </p:sp>
      <p:sp>
        <p:nvSpPr>
          <p:cNvPr id="168" name="Custom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GB" sz="2000" spc="-1" strike="noStrike">
              <a:latin typeface="Arial"/>
            </a:endParaRPr>
          </a:p>
        </p:txBody>
      </p:sp>
      <p:sp>
        <p:nvSpPr>
          <p:cNvPr id="171" name="Custom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359640" cy="359640"/>
          </a:xfrm>
          <a:prstGeom prst="rect">
            <a:avLst/>
          </a:prstGeom>
        </p:spPr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en-GB" sz="2000" spc="-1" strike="noStrike">
              <a:latin typeface="Arial"/>
            </a:endParaRPr>
          </a:p>
        </p:txBody>
      </p:sp>
      <p:sp>
        <p:nvSpPr>
          <p:cNvPr id="174" name="CustomShape 3"/>
          <p:cNvSpPr/>
          <p:nvPr/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880"/>
            <a:ext cx="10969200" cy="3972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880"/>
            <a:ext cx="10969200" cy="397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4400" spc="-1" strike="noStrike"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880"/>
            <a:ext cx="5352840" cy="397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6230520" y="1604880"/>
            <a:ext cx="5352840" cy="397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ubTitle"/>
          </p:nvPr>
        </p:nvSpPr>
        <p:spPr>
          <a:xfrm>
            <a:off x="576000" y="2136240"/>
            <a:ext cx="11032200" cy="530964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4400" spc="-1" strike="noStrike"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880"/>
            <a:ext cx="535284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30520" y="1604880"/>
            <a:ext cx="5352840" cy="397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609480" y="3680280"/>
            <a:ext cx="535284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4400" spc="-1" strike="noStrike"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880"/>
            <a:ext cx="5352840" cy="397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6230520" y="1604880"/>
            <a:ext cx="535284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6230520" y="3680280"/>
            <a:ext cx="535284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4400" spc="-1" strike="noStrike"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604880"/>
            <a:ext cx="535284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6230520" y="1604880"/>
            <a:ext cx="535284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609480" y="3680280"/>
            <a:ext cx="1096920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4400" spc="-1" strike="noStrike"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609480" y="1604880"/>
            <a:ext cx="1096920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609480" y="3680280"/>
            <a:ext cx="1096920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4400" spc="-1" strike="noStrike"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609480" y="1604880"/>
            <a:ext cx="535284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230520" y="1604880"/>
            <a:ext cx="535284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609480" y="3680280"/>
            <a:ext cx="535284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6230520" y="3680280"/>
            <a:ext cx="535284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4400" spc="-1" strike="noStrike"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609480" y="1604880"/>
            <a:ext cx="353196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318560" y="1604880"/>
            <a:ext cx="353196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8027280" y="1604880"/>
            <a:ext cx="353196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09480" y="3680280"/>
            <a:ext cx="353196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body"/>
          </p:nvPr>
        </p:nvSpPr>
        <p:spPr>
          <a:xfrm>
            <a:off x="4318560" y="3680280"/>
            <a:ext cx="353196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body"/>
          </p:nvPr>
        </p:nvSpPr>
        <p:spPr>
          <a:xfrm>
            <a:off x="8027280" y="3680280"/>
            <a:ext cx="353196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4400" spc="-1" strike="noStrike"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ubTitle"/>
          </p:nvPr>
        </p:nvSpPr>
        <p:spPr>
          <a:xfrm>
            <a:off x="609480" y="1604880"/>
            <a:ext cx="10969200" cy="39729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4400" spc="-1" strike="noStrike"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609480" y="1604880"/>
            <a:ext cx="10969200" cy="397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4400" spc="-1" strike="noStrike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09480" y="1604880"/>
            <a:ext cx="5352840" cy="397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6230520" y="1604880"/>
            <a:ext cx="5352840" cy="397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subTitle"/>
          </p:nvPr>
        </p:nvSpPr>
        <p:spPr>
          <a:xfrm>
            <a:off x="576000" y="2136240"/>
            <a:ext cx="11032200" cy="530964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4400" spc="-1" strike="noStrike"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604880"/>
            <a:ext cx="535284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6230520" y="1604880"/>
            <a:ext cx="5352840" cy="397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body"/>
          </p:nvPr>
        </p:nvSpPr>
        <p:spPr>
          <a:xfrm>
            <a:off x="609480" y="3680280"/>
            <a:ext cx="535284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4400" spc="-1" strike="noStrike"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609480" y="1604880"/>
            <a:ext cx="5352840" cy="397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6230520" y="1604880"/>
            <a:ext cx="535284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body"/>
          </p:nvPr>
        </p:nvSpPr>
        <p:spPr>
          <a:xfrm>
            <a:off x="6230520" y="3680280"/>
            <a:ext cx="535284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4400" spc="-1" strike="noStrike"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609480" y="1604880"/>
            <a:ext cx="535284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6230520" y="1604880"/>
            <a:ext cx="535284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body"/>
          </p:nvPr>
        </p:nvSpPr>
        <p:spPr>
          <a:xfrm>
            <a:off x="609480" y="3680280"/>
            <a:ext cx="1096920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4400" spc="-1" strike="noStrike"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609480" y="1604880"/>
            <a:ext cx="1096920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609480" y="3680280"/>
            <a:ext cx="1096920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4400" spc="-1" strike="noStrike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609480" y="1604880"/>
            <a:ext cx="535284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6230520" y="1604880"/>
            <a:ext cx="535284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609480" y="3680280"/>
            <a:ext cx="535284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6230520" y="3680280"/>
            <a:ext cx="535284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GB" sz="4400" spc="-1" strike="noStrike"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609480" y="1604880"/>
            <a:ext cx="353196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body"/>
          </p:nvPr>
        </p:nvSpPr>
        <p:spPr>
          <a:xfrm>
            <a:off x="4318560" y="1604880"/>
            <a:ext cx="353196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body"/>
          </p:nvPr>
        </p:nvSpPr>
        <p:spPr>
          <a:xfrm>
            <a:off x="8027280" y="1604880"/>
            <a:ext cx="353196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 type="body"/>
          </p:nvPr>
        </p:nvSpPr>
        <p:spPr>
          <a:xfrm>
            <a:off x="609480" y="3680280"/>
            <a:ext cx="353196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79" name="PlaceHolder 6"/>
          <p:cNvSpPr>
            <a:spLocks noGrp="1"/>
          </p:cNvSpPr>
          <p:nvPr>
            <p:ph type="body"/>
          </p:nvPr>
        </p:nvSpPr>
        <p:spPr>
          <a:xfrm>
            <a:off x="4318560" y="3680280"/>
            <a:ext cx="353196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  <p:sp>
        <p:nvSpPr>
          <p:cNvPr id="80" name="PlaceHolder 7"/>
          <p:cNvSpPr>
            <a:spLocks noGrp="1"/>
          </p:cNvSpPr>
          <p:nvPr>
            <p:ph type="body"/>
          </p:nvPr>
        </p:nvSpPr>
        <p:spPr>
          <a:xfrm>
            <a:off x="8027280" y="3680280"/>
            <a:ext cx="3531960" cy="18950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GB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 rot="5400000">
            <a:off x="865800" y="348120"/>
            <a:ext cx="144000" cy="702720"/>
          </a:xfrm>
          <a:prstGeom prst="rect">
            <a:avLst/>
          </a:prstGeom>
          <a:solidFill>
            <a:srgbClr val="c34d54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" name="CustomShape 2"/>
          <p:cNvSpPr/>
          <p:nvPr/>
        </p:nvSpPr>
        <p:spPr>
          <a:xfrm flipV="1">
            <a:off x="577800" y="4496400"/>
            <a:ext cx="11032560" cy="16920"/>
          </a:xfrm>
          <a:prstGeom prst="rect">
            <a:avLst/>
          </a:prstGeom>
          <a:solidFill>
            <a:srgbClr val="dbbdbf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" name="PlaceHolder 3"/>
          <p:cNvSpPr>
            <a:spLocks noGrp="1"/>
          </p:cNvSpPr>
          <p:nvPr>
            <p:ph type="title"/>
          </p:nvPr>
        </p:nvSpPr>
        <p:spPr>
          <a:xfrm>
            <a:off x="576000" y="2136240"/>
            <a:ext cx="11032200" cy="114516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r>
              <a:rPr b="0" lang="en-GB" sz="1800" spc="-1" strike="noStrike">
                <a:latin typeface="Arial"/>
              </a:rPr>
              <a:t>Click to edit the title text format</a:t>
            </a:r>
            <a:endParaRPr b="0" lang="en-GB" sz="1800" spc="-1" strike="noStrike"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609480" y="1604880"/>
            <a:ext cx="10969200" cy="39729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latin typeface="Arial"/>
              </a:rPr>
              <a:t>Click to edit the outline text format</a:t>
            </a:r>
            <a:endParaRPr b="0" lang="en-GB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latin typeface="Arial"/>
              </a:rPr>
              <a:t>Second Outline Level</a:t>
            </a:r>
            <a:endParaRPr b="0" lang="en-GB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latin typeface="Arial"/>
              </a:rPr>
              <a:t>Third Outline Level</a:t>
            </a:r>
            <a:endParaRPr b="0" lang="en-GB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latin typeface="Arial"/>
              </a:rPr>
              <a:t>Fourth Outline Level</a:t>
            </a:r>
            <a:endParaRPr b="0" lang="en-GB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latin typeface="Arial"/>
              </a:rPr>
              <a:t>Fifth Outline Level</a:t>
            </a:r>
            <a:endParaRPr b="0" lang="en-GB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latin typeface="Arial"/>
              </a:rPr>
              <a:t>Sixth Outline Level</a:t>
            </a:r>
            <a:endParaRPr b="0" lang="en-GB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latin typeface="Arial"/>
              </a:rPr>
              <a:t>Seventh Outline Level</a:t>
            </a:r>
            <a:endParaRPr b="0" lang="en-GB" sz="18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CustomShape 1"/>
          <p:cNvSpPr/>
          <p:nvPr/>
        </p:nvSpPr>
        <p:spPr>
          <a:xfrm>
            <a:off x="558720" y="0"/>
            <a:ext cx="11165760" cy="2017080"/>
          </a:xfrm>
          <a:prstGeom prst="rect">
            <a:avLst/>
          </a:prstGeom>
          <a:solidFill>
            <a:srgbClr val="c34d54"/>
          </a:solidFill>
          <a:ln w="9360">
            <a:solidFill>
              <a:srgbClr val="f0e5e5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" name="CustomShape 2"/>
          <p:cNvSpPr/>
          <p:nvPr/>
        </p:nvSpPr>
        <p:spPr>
          <a:xfrm>
            <a:off x="566640" y="0"/>
            <a:ext cx="11154600" cy="2010600"/>
          </a:xfrm>
          <a:prstGeom prst="rect">
            <a:avLst/>
          </a:prstGeom>
          <a:solidFill>
            <a:srgbClr val="c34d54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" name="CustomShape 3"/>
          <p:cNvSpPr/>
          <p:nvPr/>
        </p:nvSpPr>
        <p:spPr>
          <a:xfrm>
            <a:off x="498600" y="787320"/>
            <a:ext cx="126000" cy="702720"/>
          </a:xfrm>
          <a:prstGeom prst="rect">
            <a:avLst/>
          </a:prstGeom>
          <a:solidFill>
            <a:srgbClr val="c34d54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52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GB" sz="4400" spc="-1" strike="noStrike">
                <a:latin typeface="Arial"/>
              </a:rPr>
              <a:t>Click to edit the title text format</a:t>
            </a:r>
            <a:endParaRPr b="0" lang="en-GB" sz="4400" spc="-1" strike="noStrike"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352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latin typeface="Arial"/>
              </a:rPr>
              <a:t>Click to edit the outline text format</a:t>
            </a:r>
            <a:endParaRPr b="0" lang="en-GB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latin typeface="Arial"/>
              </a:rPr>
              <a:t>Second Outline Level</a:t>
            </a:r>
            <a:endParaRPr b="0" lang="en-GB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latin typeface="Arial"/>
              </a:rPr>
              <a:t>Third Outline Level</a:t>
            </a:r>
            <a:endParaRPr b="0" lang="en-GB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latin typeface="Arial"/>
              </a:rPr>
              <a:t>Fourth Outline Level</a:t>
            </a:r>
            <a:endParaRPr b="0" lang="en-GB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latin typeface="Arial"/>
              </a:rPr>
              <a:t>Fifth Outline Level</a:t>
            </a:r>
            <a:endParaRPr b="0" lang="en-GB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latin typeface="Arial"/>
              </a:rPr>
              <a:t>Sixth Outline Level</a:t>
            </a:r>
            <a:endParaRPr b="0" lang="en-GB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latin typeface="Arial"/>
              </a:rPr>
              <a:t>Seventh Outline Level</a:t>
            </a:r>
            <a:endParaRPr b="0" lang="en-GB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github.com/oscar-123458/ES26UAB-411-09" TargetMode="External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CustomShape 1"/>
          <p:cNvSpPr/>
          <p:nvPr/>
        </p:nvSpPr>
        <p:spPr>
          <a:xfrm>
            <a:off x="0" y="0"/>
            <a:ext cx="12189600" cy="68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88" name="" descr=""/>
          <p:cNvPicPr/>
          <p:nvPr/>
        </p:nvPicPr>
        <p:blipFill>
          <a:blip r:embed="rId1"/>
          <a:srcRect l="0" t="1105" r="0" b="0"/>
          <a:stretch/>
        </p:blipFill>
        <p:spPr>
          <a:xfrm>
            <a:off x="0" y="0"/>
            <a:ext cx="8667000" cy="6855840"/>
          </a:xfrm>
          <a:prstGeom prst="rect">
            <a:avLst/>
          </a:prstGeom>
          <a:ln>
            <a:noFill/>
          </a:ln>
        </p:spPr>
      </p:pic>
      <p:sp>
        <p:nvSpPr>
          <p:cNvPr id="89" name="CustomShape 2"/>
          <p:cNvSpPr/>
          <p:nvPr/>
        </p:nvSpPr>
        <p:spPr>
          <a:xfrm flipH="1">
            <a:off x="3710880" y="0"/>
            <a:ext cx="8478000" cy="685584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50000">
                <a:srgbClr val="ffffff"/>
              </a:gs>
              <a:gs pos="100000">
                <a:srgbClr val="ffffff"/>
              </a:gs>
            </a:gsLst>
            <a:lin ang="0"/>
          </a:gra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0" name="CustomShape 3"/>
          <p:cNvSpPr/>
          <p:nvPr/>
        </p:nvSpPr>
        <p:spPr>
          <a:xfrm>
            <a:off x="7848720" y="1122480"/>
            <a:ext cx="4021920" cy="3202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90000"/>
              </a:lnSpc>
            </a:pPr>
            <a:r>
              <a:rPr b="1" lang="en-GB" sz="4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Enginyeria del Software</a:t>
            </a:r>
            <a:endParaRPr b="0" lang="en-GB" sz="4800" spc="-1" strike="noStrike">
              <a:latin typeface="Arial"/>
            </a:endParaRPr>
          </a:p>
        </p:txBody>
      </p:sp>
      <p:sp>
        <p:nvSpPr>
          <p:cNvPr id="91" name="CustomShape 4"/>
          <p:cNvSpPr/>
          <p:nvPr/>
        </p:nvSpPr>
        <p:spPr>
          <a:xfrm rot="5400000">
            <a:off x="8138160" y="348120"/>
            <a:ext cx="144000" cy="702720"/>
          </a:xfrm>
          <a:prstGeom prst="rect">
            <a:avLst/>
          </a:prstGeom>
          <a:solidFill>
            <a:srgbClr val="c34d54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CustomShape 5"/>
          <p:cNvSpPr/>
          <p:nvPr/>
        </p:nvSpPr>
        <p:spPr>
          <a:xfrm>
            <a:off x="7851600" y="4546440"/>
            <a:ext cx="4022280" cy="16920"/>
          </a:xfrm>
          <a:prstGeom prst="rect">
            <a:avLst/>
          </a:prstGeom>
          <a:solidFill>
            <a:srgbClr val="dbbdbf"/>
          </a:solidFill>
          <a:ln w="3240">
            <a:solidFill>
              <a:srgbClr val="dbbdb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3" name="CustomShape 6"/>
          <p:cNvSpPr/>
          <p:nvPr/>
        </p:nvSpPr>
        <p:spPr>
          <a:xfrm>
            <a:off x="7848720" y="4873680"/>
            <a:ext cx="4021920" cy="135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  <a:spcBef>
                <a:spcPts val="1001"/>
              </a:spcBef>
            </a:pPr>
            <a:r>
              <a:rPr b="0" lang="en-GB" sz="14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Pràctiques: Grup 411-08</a:t>
            </a:r>
            <a:endParaRPr b="0" lang="en-GB" sz="1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</a:pPr>
            <a:endParaRPr b="0" lang="en-GB" sz="1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</a:pPr>
            <a:r>
              <a:rPr b="0" lang="en-GB" sz="14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Sprint 01: Requisits Funcionals i No Funcionals</a:t>
            </a:r>
            <a:endParaRPr b="0" lang="en-GB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CustomShape 1"/>
          <p:cNvSpPr/>
          <p:nvPr/>
        </p:nvSpPr>
        <p:spPr>
          <a:xfrm>
            <a:off x="1116000" y="549360"/>
            <a:ext cx="10165680" cy="117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en-GB" sz="40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Composició de l’equip </a:t>
            </a:r>
            <a:endParaRPr b="0" lang="en-GB" sz="4000" spc="-1" strike="noStrike">
              <a:latin typeface="Arial"/>
            </a:endParaRPr>
          </a:p>
        </p:txBody>
      </p:sp>
      <p:sp>
        <p:nvSpPr>
          <p:cNvPr id="95" name="CustomShape 2"/>
          <p:cNvSpPr/>
          <p:nvPr/>
        </p:nvSpPr>
        <p:spPr>
          <a:xfrm>
            <a:off x="8540640" y="6356520"/>
            <a:ext cx="2741040" cy="362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fld id="{7E1CC93A-1F41-49E1-A2D4-FD66968283C1}" type="slidenum">
              <a:rPr b="0" lang="en-GB" sz="1200" spc="-1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b="0" lang="en-GB" sz="1200" spc="-1" strike="noStrike">
              <a:latin typeface="Arial"/>
            </a:endParaRPr>
          </a:p>
        </p:txBody>
      </p:sp>
      <p:sp>
        <p:nvSpPr>
          <p:cNvPr id="96" name="CustomShape 3"/>
          <p:cNvSpPr/>
          <p:nvPr/>
        </p:nvSpPr>
        <p:spPr>
          <a:xfrm>
            <a:off x="3890880" y="3638520"/>
            <a:ext cx="2316960" cy="912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Òscar Raneda Halminen</a:t>
            </a:r>
            <a:endParaRPr b="0" lang="en-GB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(Scrum master)</a:t>
            </a:r>
            <a:endParaRPr b="0" lang="en-GB" sz="1800" spc="-1" strike="noStrike">
              <a:latin typeface="Arial"/>
            </a:endParaRPr>
          </a:p>
        </p:txBody>
      </p:sp>
      <p:sp>
        <p:nvSpPr>
          <p:cNvPr id="97" name="CustomShape 4"/>
          <p:cNvSpPr/>
          <p:nvPr/>
        </p:nvSpPr>
        <p:spPr>
          <a:xfrm>
            <a:off x="6513480" y="3638520"/>
            <a:ext cx="231696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Adam Pérez Pulgarín</a:t>
            </a:r>
            <a:endParaRPr b="0" lang="en-GB" sz="1800" spc="-1" strike="noStrike">
              <a:latin typeface="Arial"/>
            </a:endParaRPr>
          </a:p>
        </p:txBody>
      </p:sp>
      <p:sp>
        <p:nvSpPr>
          <p:cNvPr id="98" name="CustomShape 5"/>
          <p:cNvSpPr/>
          <p:nvPr/>
        </p:nvSpPr>
        <p:spPr>
          <a:xfrm>
            <a:off x="3890880" y="5799240"/>
            <a:ext cx="231696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Jan Real López</a:t>
            </a:r>
            <a:endParaRPr b="0" lang="en-GB" sz="1800" spc="-1" strike="noStrike">
              <a:latin typeface="Arial"/>
            </a:endParaRPr>
          </a:p>
        </p:txBody>
      </p:sp>
      <p:sp>
        <p:nvSpPr>
          <p:cNvPr id="99" name="CustomShape 6"/>
          <p:cNvSpPr/>
          <p:nvPr/>
        </p:nvSpPr>
        <p:spPr>
          <a:xfrm>
            <a:off x="6513480" y="5799240"/>
            <a:ext cx="231696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Iker Urruticoechea Puig</a:t>
            </a:r>
            <a:endParaRPr b="0" lang="en-GB" sz="1800" spc="-1" strike="noStrike">
              <a:latin typeface="Arial"/>
            </a:endParaRPr>
          </a:p>
        </p:txBody>
      </p:sp>
      <p:sp>
        <p:nvSpPr>
          <p:cNvPr id="100" name="CustomShape 7"/>
          <p:cNvSpPr/>
          <p:nvPr/>
        </p:nvSpPr>
        <p:spPr>
          <a:xfrm>
            <a:off x="6613560" y="3166920"/>
            <a:ext cx="4298040" cy="9122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01" name="" descr=""/>
          <p:cNvPicPr/>
          <p:nvPr/>
        </p:nvPicPr>
        <p:blipFill>
          <a:blip r:embed="rId1"/>
          <a:stretch/>
        </p:blipFill>
        <p:spPr>
          <a:xfrm>
            <a:off x="6972480" y="4549680"/>
            <a:ext cx="983520" cy="1229760"/>
          </a:xfrm>
          <a:prstGeom prst="rect">
            <a:avLst/>
          </a:prstGeom>
          <a:ln>
            <a:noFill/>
          </a:ln>
        </p:spPr>
      </p:pic>
      <p:pic>
        <p:nvPicPr>
          <p:cNvPr id="102" name="" descr=""/>
          <p:cNvPicPr/>
          <p:nvPr/>
        </p:nvPicPr>
        <p:blipFill>
          <a:blip r:embed="rId2"/>
          <a:srcRect l="13143" t="14756" r="13368" b="18978"/>
          <a:stretch/>
        </p:blipFill>
        <p:spPr>
          <a:xfrm>
            <a:off x="4290840" y="2306520"/>
            <a:ext cx="1107360" cy="1331280"/>
          </a:xfrm>
          <a:prstGeom prst="rect">
            <a:avLst/>
          </a:prstGeom>
          <a:ln>
            <a:noFill/>
          </a:ln>
        </p:spPr>
      </p:pic>
      <p:pic>
        <p:nvPicPr>
          <p:cNvPr id="103" name="" descr=""/>
          <p:cNvPicPr/>
          <p:nvPr/>
        </p:nvPicPr>
        <p:blipFill>
          <a:blip r:embed="rId3"/>
          <a:stretch/>
        </p:blipFill>
        <p:spPr>
          <a:xfrm>
            <a:off x="6873840" y="2384280"/>
            <a:ext cx="978840" cy="1207440"/>
          </a:xfrm>
          <a:prstGeom prst="rect">
            <a:avLst/>
          </a:prstGeom>
          <a:ln>
            <a:noFill/>
          </a:ln>
        </p:spPr>
      </p:pic>
      <p:pic>
        <p:nvPicPr>
          <p:cNvPr id="104" name="" descr=""/>
          <p:cNvPicPr/>
          <p:nvPr/>
        </p:nvPicPr>
        <p:blipFill>
          <a:blip r:embed="rId4"/>
          <a:stretch/>
        </p:blipFill>
        <p:spPr>
          <a:xfrm>
            <a:off x="4343400" y="4572000"/>
            <a:ext cx="1031760" cy="12074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CustomShape 1"/>
          <p:cNvSpPr/>
          <p:nvPr/>
        </p:nvSpPr>
        <p:spPr>
          <a:xfrm>
            <a:off x="1116000" y="549360"/>
            <a:ext cx="10165680" cy="117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en-GB" sz="40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Tasques fetes al sprint</a:t>
            </a:r>
            <a:endParaRPr b="0" lang="en-GB" sz="4000" spc="-1" strike="noStrike">
              <a:latin typeface="Arial"/>
            </a:endParaRPr>
          </a:p>
        </p:txBody>
      </p:sp>
      <p:sp>
        <p:nvSpPr>
          <p:cNvPr id="106" name="CustomShape 2"/>
          <p:cNvSpPr/>
          <p:nvPr/>
        </p:nvSpPr>
        <p:spPr>
          <a:xfrm>
            <a:off x="8540640" y="6356520"/>
            <a:ext cx="2741040" cy="362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fld id="{028E1876-0216-45E5-B743-4BCFD23A706D}" type="slidenum">
              <a:rPr b="0" lang="en-GB" sz="1200" spc="-1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b="0" lang="en-GB" sz="1200" spc="-1" strike="noStrike">
              <a:latin typeface="Arial"/>
            </a:endParaRPr>
          </a:p>
        </p:txBody>
      </p:sp>
      <p:sp>
        <p:nvSpPr>
          <p:cNvPr id="107" name="CustomShape 3"/>
          <p:cNvSpPr/>
          <p:nvPr/>
        </p:nvSpPr>
        <p:spPr>
          <a:xfrm>
            <a:off x="428760" y="2198520"/>
            <a:ext cx="10067400" cy="4470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00000"/>
              </a:lnSpc>
            </a:pPr>
            <a:r>
              <a:rPr b="0" lang="en-GB" sz="16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Tasques realitzades aquest sprint:</a:t>
            </a:r>
            <a:endParaRPr b="0" lang="en-GB" sz="16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6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en-GB" sz="1600" spc="-1" strike="noStrike">
                <a:solidFill>
                  <a:srgbClr val="000000"/>
                </a:solidFill>
                <a:latin typeface="Neue Haas Grotesk Text Pro"/>
                <a:ea typeface="Microsoft YaHei"/>
              </a:rPr>
              <a:t>Tasca 1: Creació del entorn Github i Trello. Redacció del document README.md (encarregat: </a:t>
            </a:r>
            <a:r>
              <a:rPr b="0" lang="en-GB" sz="16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Òscar Raneda)</a:t>
            </a:r>
            <a:endParaRPr b="0" lang="en-GB" sz="16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6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en-GB" sz="1600" spc="-1" strike="noStrike">
                <a:solidFill>
                  <a:srgbClr val="000000"/>
                </a:solidFill>
                <a:latin typeface="Neue Haas Grotesk Text Pro"/>
                <a:ea typeface="Microsoft YaHei"/>
              </a:rPr>
              <a:t>Tasca 2: Requisits funcionals del GRUP 1: GESTIÓ DE COMPTES I CREACIÓ DE PERFILS D'USUARI, GRUP 2: REALITZACIÓ DE COMANDES i GRUP 3: ENVIAMENT DE COMANDES (encarregat: </a:t>
            </a:r>
            <a:r>
              <a:rPr b="0" lang="en-GB" sz="16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Adam Pérez)</a:t>
            </a:r>
            <a:endParaRPr b="0" lang="en-GB" sz="16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6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en-GB" sz="1600" spc="-1" strike="noStrike">
                <a:solidFill>
                  <a:srgbClr val="000000"/>
                </a:solidFill>
                <a:latin typeface="Neue Haas Grotesk Text Pro"/>
                <a:ea typeface="Microsoft YaHei"/>
              </a:rPr>
              <a:t>Tasca 3: Requisits funcionals del GRUP 4: PAGAMENT DE LA COMANDA I GRUP 5: VALORACIÓ DE LA COMANDA (encarregat: Iker Urruticoechea)</a:t>
            </a:r>
            <a:endParaRPr b="0" lang="en-GB" sz="16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6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en-GB" sz="1600" spc="-1" strike="noStrike">
                <a:solidFill>
                  <a:srgbClr val="000000"/>
                </a:solidFill>
                <a:latin typeface="Neue Haas Grotesk Text Pro"/>
                <a:ea typeface="Microsoft YaHei"/>
              </a:rPr>
              <a:t>Tasca 4: Requisits funcionals del GRUP 6: FUNCIONALITATS ADDICIONALS i altres consideracions (encarregat: Adam Pérez)</a:t>
            </a:r>
            <a:endParaRPr b="0" lang="en-GB" sz="16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6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en-GB" sz="1600" spc="-1" strike="noStrike">
                <a:solidFill>
                  <a:srgbClr val="000000"/>
                </a:solidFill>
                <a:latin typeface="Neue Haas Grotesk Text Pro"/>
                <a:ea typeface="Microsoft YaHei"/>
              </a:rPr>
              <a:t>Tasca 5: Burn-down chart (encarregat: Jan Real)</a:t>
            </a:r>
            <a:endParaRPr b="0" lang="en-GB" sz="16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6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en-GB" sz="1600" spc="-1" strike="noStrike">
                <a:solidFill>
                  <a:srgbClr val="000000"/>
                </a:solidFill>
                <a:latin typeface="Neue Haas Grotesk Text Pro"/>
                <a:ea typeface="Microsoft YaHei"/>
              </a:rPr>
              <a:t>Tasca 6: Passar requisits a format markdown (encarregat: Òscar Raneda)</a:t>
            </a:r>
            <a:endParaRPr b="0" lang="en-GB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CustomShape 1"/>
          <p:cNvSpPr/>
          <p:nvPr/>
        </p:nvSpPr>
        <p:spPr>
          <a:xfrm>
            <a:off x="1116000" y="549360"/>
            <a:ext cx="10165680" cy="117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en-GB" sz="40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Perfils d’usuari a l’aplicació QUEMENGES</a:t>
            </a:r>
            <a:endParaRPr b="0" lang="en-GB" sz="4000" spc="-1" strike="noStrike">
              <a:latin typeface="Arial"/>
            </a:endParaRPr>
          </a:p>
        </p:txBody>
      </p:sp>
      <p:sp>
        <p:nvSpPr>
          <p:cNvPr id="109" name="CustomShape 2"/>
          <p:cNvSpPr/>
          <p:nvPr/>
        </p:nvSpPr>
        <p:spPr>
          <a:xfrm>
            <a:off x="8540640" y="6356520"/>
            <a:ext cx="2741040" cy="362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fld id="{6BB535F7-B1C9-4876-9687-6B8933E2FA26}" type="slidenum">
              <a:rPr b="0" lang="en-GB" sz="1200" spc="-1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b="0" lang="en-GB" sz="1200" spc="-1" strike="noStrike">
              <a:latin typeface="Arial"/>
            </a:endParaRPr>
          </a:p>
        </p:txBody>
      </p:sp>
      <p:sp>
        <p:nvSpPr>
          <p:cNvPr id="110" name="CustomShape 3"/>
          <p:cNvSpPr/>
          <p:nvPr/>
        </p:nvSpPr>
        <p:spPr>
          <a:xfrm>
            <a:off x="428760" y="2198520"/>
            <a:ext cx="10019520" cy="3381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Llistat de perfils: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Usuari no registrat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Usuari client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Usuari cuiner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Usuari repartidor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Sistema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CustomShape 1"/>
          <p:cNvSpPr/>
          <p:nvPr/>
        </p:nvSpPr>
        <p:spPr>
          <a:xfrm>
            <a:off x="1116000" y="549360"/>
            <a:ext cx="10165680" cy="117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en-GB" sz="40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Requisits</a:t>
            </a:r>
            <a:endParaRPr b="0" lang="en-GB" sz="4000" spc="-1" strike="noStrike">
              <a:latin typeface="Arial"/>
            </a:endParaRPr>
          </a:p>
        </p:txBody>
      </p:sp>
      <p:sp>
        <p:nvSpPr>
          <p:cNvPr id="112" name="CustomShape 2"/>
          <p:cNvSpPr/>
          <p:nvPr/>
        </p:nvSpPr>
        <p:spPr>
          <a:xfrm>
            <a:off x="8540640" y="6356520"/>
            <a:ext cx="2741040" cy="362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fld id="{2E198332-D9D6-46CA-A2F8-6B6AC2909AFD}" type="slidenum">
              <a:rPr b="0" lang="en-GB" sz="1200" spc="-1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b="0" lang="en-GB" sz="1200" spc="-1" strike="noStrike">
              <a:latin typeface="Arial"/>
            </a:endParaRPr>
          </a:p>
        </p:txBody>
      </p:sp>
      <p:sp>
        <p:nvSpPr>
          <p:cNvPr id="113" name="CustomShape 3"/>
          <p:cNvSpPr/>
          <p:nvPr/>
        </p:nvSpPr>
        <p:spPr>
          <a:xfrm>
            <a:off x="428760" y="2198520"/>
            <a:ext cx="11264040" cy="393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Usuari no registrat: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01-02: Registrar-se com a usuari</a:t>
            </a:r>
            <a:endParaRPr b="0" lang="en-GB" sz="1800" spc="-1" strike="noStrike">
              <a:latin typeface="Arial"/>
            </a:endParaRPr>
          </a:p>
          <a:p>
            <a:pPr lvl="1" marL="432000" indent="-215640" algn="just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01-01: Registre amb compte de correu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01-03: Omplir perfil per poder fer comandes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01-04: Noms d’usuari únics de +5 caràcters</a:t>
            </a:r>
            <a:endParaRPr b="0" lang="en-GB" sz="1800" spc="-1" strike="noStrike">
              <a:latin typeface="Arial"/>
            </a:endParaRPr>
          </a:p>
          <a:p>
            <a:pPr lvl="1" marL="432000" indent="-215640" algn="just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01-02: Contrasenyes de +8 caràcters (2 majúscules i 2 especials)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01-05: Perfils actualitzables en tot moment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01-06: Eliminar perfil en donar-se de baixa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CustomShape 1"/>
          <p:cNvSpPr/>
          <p:nvPr/>
        </p:nvSpPr>
        <p:spPr>
          <a:xfrm>
            <a:off x="1116000" y="549360"/>
            <a:ext cx="10165680" cy="117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en-GB" sz="40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Requisits</a:t>
            </a:r>
            <a:endParaRPr b="0" lang="en-GB" sz="4000" spc="-1" strike="noStrike">
              <a:latin typeface="Arial"/>
            </a:endParaRPr>
          </a:p>
        </p:txBody>
      </p:sp>
      <p:sp>
        <p:nvSpPr>
          <p:cNvPr id="115" name="CustomShape 2"/>
          <p:cNvSpPr/>
          <p:nvPr/>
        </p:nvSpPr>
        <p:spPr>
          <a:xfrm>
            <a:off x="8540640" y="6356520"/>
            <a:ext cx="2741040" cy="362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fld id="{6CEC2BEE-7A80-45F2-985A-6F102C48B892}" type="slidenum">
              <a:rPr b="0" lang="en-GB" sz="1200" spc="-1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b="0" lang="en-GB" sz="1200" spc="-1" strike="noStrike">
              <a:latin typeface="Arial"/>
            </a:endParaRPr>
          </a:p>
        </p:txBody>
      </p:sp>
      <p:sp>
        <p:nvSpPr>
          <p:cNvPr id="116" name="CustomShape 3"/>
          <p:cNvSpPr/>
          <p:nvPr/>
        </p:nvSpPr>
        <p:spPr>
          <a:xfrm>
            <a:off x="428760" y="2198520"/>
            <a:ext cx="11264040" cy="4478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Usuari client: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02-01: Mostrar plats i menús disponibles, prioritzant aquells que compleixin les restriccions alimentàries de l'usuari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02-02: Enviar comanda un cop tancada i confirmada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02-03: Consultar l'historial de comandes prèvies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02-04: Repetir una comanda de l'historial (si el plat i el cuiner continuen disponibles)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05-02: Permetre al client valorar aspectes de la comanda un cop finalitzada, com la puntualitat de l'entrega o l'estat del menjar</a:t>
            </a:r>
            <a:endParaRPr b="0" lang="en-GB" sz="1800" spc="-1" strike="noStrike">
              <a:latin typeface="Arial"/>
            </a:endParaRPr>
          </a:p>
          <a:p>
            <a:pPr lvl="1" marL="432000" indent="-215640" algn="just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05-02: Limitar el sistema per permetre fer només una única valoració per client i comanda</a:t>
            </a:r>
            <a:endParaRPr b="0" lang="en-GB" sz="1800" spc="-1" strike="noStrike">
              <a:latin typeface="Arial"/>
            </a:endParaRPr>
          </a:p>
          <a:p>
            <a:pPr lvl="1" marL="432000" indent="-215640" algn="just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05-03: El sistema de valoracions s'ha de basar visualment i quantitativament en una </a:t>
            </a: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escala d'estrelles de l'1 al 5</a:t>
            </a:r>
            <a:endParaRPr b="0" lang="en-GB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CustomShape 1"/>
          <p:cNvSpPr/>
          <p:nvPr/>
        </p:nvSpPr>
        <p:spPr>
          <a:xfrm>
            <a:off x="1116000" y="549360"/>
            <a:ext cx="10165680" cy="117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en-GB" sz="40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Requisits</a:t>
            </a:r>
            <a:endParaRPr b="0" lang="en-GB" sz="4000" spc="-1" strike="noStrike">
              <a:latin typeface="Arial"/>
            </a:endParaRPr>
          </a:p>
        </p:txBody>
      </p:sp>
      <p:sp>
        <p:nvSpPr>
          <p:cNvPr id="118" name="CustomShape 2"/>
          <p:cNvSpPr/>
          <p:nvPr/>
        </p:nvSpPr>
        <p:spPr>
          <a:xfrm>
            <a:off x="8540640" y="6356520"/>
            <a:ext cx="2741040" cy="362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fld id="{47DEB470-9159-4E43-91FC-43B4EA26906F}" type="slidenum">
              <a:rPr b="0" lang="en-GB" sz="1200" spc="-1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b="0" lang="en-GB" sz="1200" spc="-1" strike="noStrike">
              <a:latin typeface="Arial"/>
            </a:endParaRPr>
          </a:p>
        </p:txBody>
      </p:sp>
      <p:sp>
        <p:nvSpPr>
          <p:cNvPr id="119" name="CustomShape 3"/>
          <p:cNvSpPr/>
          <p:nvPr/>
        </p:nvSpPr>
        <p:spPr>
          <a:xfrm>
            <a:off x="428760" y="2198520"/>
            <a:ext cx="11264040" cy="4477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Usuari cuiner: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02-06: Permetre escollir entre vista per plats/menús individuals o vista per llistat de cuiners disponibles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02-07: Ordenar els llistats per proximitat geogràfica entre el cuiner i l'usuari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02-08: Cercador per nom de plat i nom de cuiner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02-09: Permetre als cuiners indicar i aparèixer com a "no disponibles"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02-10: Consultar l'historial de comandes prèvies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02-11: Permetre al client reservar una comanda per a quan el cuiner torni a estar disponible</a:t>
            </a:r>
            <a:endParaRPr b="0" lang="en-GB" sz="1800" spc="-1" strike="noStrike">
              <a:latin typeface="Arial"/>
            </a:endParaRPr>
          </a:p>
          <a:p>
            <a:pPr lvl="1" marL="432000" indent="-215640" algn="just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02-01: Un client no pot tenir més de 3 comandes actives a la vegada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02-12: Consultar els ingredients i al·lèrgens d'un plat a la comanda</a:t>
            </a:r>
            <a:endParaRPr b="0" lang="en-GB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ustomShape 1"/>
          <p:cNvSpPr/>
          <p:nvPr/>
        </p:nvSpPr>
        <p:spPr>
          <a:xfrm>
            <a:off x="1116000" y="549360"/>
            <a:ext cx="10165680" cy="117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en-GB" sz="40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Requisits</a:t>
            </a:r>
            <a:endParaRPr b="0" lang="en-GB" sz="4000" spc="-1" strike="noStrike">
              <a:latin typeface="Arial"/>
            </a:endParaRPr>
          </a:p>
        </p:txBody>
      </p:sp>
      <p:sp>
        <p:nvSpPr>
          <p:cNvPr id="121" name="CustomShape 2"/>
          <p:cNvSpPr/>
          <p:nvPr/>
        </p:nvSpPr>
        <p:spPr>
          <a:xfrm>
            <a:off x="8540640" y="6356520"/>
            <a:ext cx="2741040" cy="362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fld id="{B870DB0C-8C6C-45A4-BA9C-A659EFCEEAEF}" type="slidenum">
              <a:rPr b="0" lang="en-GB" sz="1200" spc="-1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b="0" lang="en-GB" sz="1200" spc="-1" strike="noStrike">
              <a:latin typeface="Arial"/>
            </a:endParaRPr>
          </a:p>
        </p:txBody>
      </p:sp>
      <p:sp>
        <p:nvSpPr>
          <p:cNvPr id="122" name="CustomShape 3"/>
          <p:cNvSpPr/>
          <p:nvPr/>
        </p:nvSpPr>
        <p:spPr>
          <a:xfrm>
            <a:off x="428760" y="2198520"/>
            <a:ext cx="11264040" cy="3107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Usuari repartidor: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03-01: Oferir tres opcions de recollida o entrega per a la comanda: repartidor de l’aplicació, entrega pel cuiner o recollida pel client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03-02: Calcular el cost de l’enviament en funció de la distància entre el client i el cuiner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03-05: Mostrar la posició actual del repartidor de manera visual mitjançant un mapa</a:t>
            </a:r>
            <a:endParaRPr b="0" lang="en-GB" sz="1800" spc="-1" strike="noStrike">
              <a:latin typeface="Arial"/>
            </a:endParaRPr>
          </a:p>
          <a:p>
            <a:pPr lvl="1" marL="432000" indent="-215640" algn="just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03-01: Integració amb la interfície de Google Maps per poder mostrar la ubicació del </a:t>
            </a: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	</a:t>
            </a: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repartidor en temps real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CustomShape 1"/>
          <p:cNvSpPr/>
          <p:nvPr/>
        </p:nvSpPr>
        <p:spPr>
          <a:xfrm>
            <a:off x="1116000" y="549360"/>
            <a:ext cx="10165680" cy="117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en-GB" sz="40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Requisits</a:t>
            </a:r>
            <a:endParaRPr b="0" lang="en-GB" sz="4000" spc="-1" strike="noStrike">
              <a:latin typeface="Arial"/>
            </a:endParaRPr>
          </a:p>
        </p:txBody>
      </p:sp>
      <p:sp>
        <p:nvSpPr>
          <p:cNvPr id="124" name="CustomShape 2"/>
          <p:cNvSpPr/>
          <p:nvPr/>
        </p:nvSpPr>
        <p:spPr>
          <a:xfrm>
            <a:off x="8540640" y="6356520"/>
            <a:ext cx="2741040" cy="362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fld id="{35C8993D-6B89-4545-8756-9C53BB536CC0}" type="slidenum">
              <a:rPr b="0" lang="en-GB" sz="1200" spc="-1" strike="noStrike">
                <a:solidFill>
                  <a:srgbClr val="8b8b8b"/>
                </a:solidFill>
                <a:latin typeface="Neue Haas Grotesk Text Pro"/>
                <a:ea typeface="DejaVu Sans"/>
              </a:rPr>
              <a:t>&lt;number&gt;</a:t>
            </a:fld>
            <a:endParaRPr b="0" lang="en-GB" sz="1200" spc="-1" strike="noStrike">
              <a:latin typeface="Arial"/>
            </a:endParaRPr>
          </a:p>
        </p:txBody>
      </p:sp>
      <p:sp>
        <p:nvSpPr>
          <p:cNvPr id="125" name="CustomShape 3"/>
          <p:cNvSpPr/>
          <p:nvPr/>
        </p:nvSpPr>
        <p:spPr>
          <a:xfrm>
            <a:off x="428760" y="2198520"/>
            <a:ext cx="11264040" cy="4477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Sistema: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06-01: Els clients poden proposar plats que no estiguin disponibles al menú actual.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06-02: Només els cuiners poden accedir al menú de plats proposats pels clients.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RF 06-03: Els cuiners poden acceptar les propostes de plats fetes pels clients i comprometre’s a preparar-les.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AT-03: L’aplicació tindrà dues versions: web i mòbil.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AT-04: La versió mòbil haurà de funcionar en dispositius Android.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AT-05: La versió mòbil haurà de funcionar en dispositius amb sistema operatiu iOS.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marL="216000" indent="-215640" algn="just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RNF AT-06: El tipus de lletra de l’aplicació serà Calibri tant per als encapçalats com per a la resta dels continguts.</a:t>
            </a:r>
            <a:endParaRPr b="0" lang="en-GB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CustomShape 1"/>
          <p:cNvSpPr/>
          <p:nvPr/>
        </p:nvSpPr>
        <p:spPr>
          <a:xfrm>
            <a:off x="1116000" y="549360"/>
            <a:ext cx="10165680" cy="117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en-GB" sz="40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Burn-down chart</a:t>
            </a:r>
            <a:endParaRPr b="0" lang="en-GB" sz="4000" spc="-1" strike="noStrike">
              <a:latin typeface="Arial"/>
            </a:endParaRPr>
          </a:p>
        </p:txBody>
      </p:sp>
      <p:pic>
        <p:nvPicPr>
          <p:cNvPr id="127" name="" descr=""/>
          <p:cNvPicPr/>
          <p:nvPr/>
        </p:nvPicPr>
        <p:blipFill>
          <a:blip r:embed="rId1"/>
          <a:srcRect l="0" t="17775" r="4" b="4128"/>
          <a:stretch/>
        </p:blipFill>
        <p:spPr>
          <a:xfrm>
            <a:off x="1828800" y="2025000"/>
            <a:ext cx="8914680" cy="483192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CustomShape 1"/>
          <p:cNvSpPr/>
          <p:nvPr/>
        </p:nvSpPr>
        <p:spPr>
          <a:xfrm>
            <a:off x="1116000" y="549360"/>
            <a:ext cx="10165680" cy="117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</a:pPr>
            <a:r>
              <a:rPr b="1" lang="en-GB" sz="40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Enllaços Trello i GitHub</a:t>
            </a:r>
            <a:endParaRPr b="0" lang="en-GB" sz="4000" spc="-1" strike="noStrike">
              <a:latin typeface="Arial"/>
            </a:endParaRPr>
          </a:p>
        </p:txBody>
      </p:sp>
      <p:sp>
        <p:nvSpPr>
          <p:cNvPr id="129" name="CustomShape 2"/>
          <p:cNvSpPr/>
          <p:nvPr/>
        </p:nvSpPr>
        <p:spPr>
          <a:xfrm>
            <a:off x="8540640" y="6356520"/>
            <a:ext cx="2741040" cy="362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fld id="{6BE6C1BE-9303-481A-9F68-F46D44D446FD}" type="slidenum">
              <a:rPr b="0" lang="en-GB" sz="1200" spc="-1" strike="noStrike">
                <a:solidFill>
                  <a:srgbClr val="000000"/>
                </a:solidFill>
                <a:latin typeface="Arial"/>
                <a:ea typeface="DejaVu Sans"/>
              </a:rPr>
              <a:t>&lt;number&gt;</a:t>
            </a:fld>
            <a:endParaRPr b="0" lang="en-GB" sz="1200" spc="-1" strike="noStrike">
              <a:latin typeface="Arial"/>
            </a:endParaRPr>
          </a:p>
        </p:txBody>
      </p:sp>
      <p:sp>
        <p:nvSpPr>
          <p:cNvPr id="130" name="CustomShape 3"/>
          <p:cNvSpPr/>
          <p:nvPr/>
        </p:nvSpPr>
        <p:spPr>
          <a:xfrm>
            <a:off x="428760" y="2306520"/>
            <a:ext cx="6410880" cy="2087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Trello: https://trello.com/invite/b/69b040593c0bcbb99983ac89/ATTIb954925835551af04078121da7692c064E0D93CB/es26uab-411-09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GitHub:</a:t>
            </a:r>
            <a:endParaRPr b="0" lang="en-GB" sz="1800" spc="-1" strike="noStrike"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en-GB" sz="1800" spc="-1" strike="noStrike" u="sng">
                <a:solidFill>
                  <a:srgbClr val="0000ee"/>
                </a:solidFill>
                <a:uFillTx/>
                <a:latin typeface="Neue Haas Grotesk Text Pro"/>
                <a:ea typeface="Neue Haas Grotesk Text Pro"/>
                <a:hlinkClick r:id="rId1"/>
              </a:rPr>
              <a:t>https://github.com/oscar-123458/ES26UAB-411-09</a:t>
            </a:r>
            <a:endParaRPr b="0" lang="en-GB" sz="1800" spc="-1" strike="noStrike">
              <a:latin typeface="Arial"/>
            </a:endParaRPr>
          </a:p>
        </p:txBody>
      </p:sp>
      <p:sp>
        <p:nvSpPr>
          <p:cNvPr id="131" name="CustomShape 4"/>
          <p:cNvSpPr/>
          <p:nvPr/>
        </p:nvSpPr>
        <p:spPr>
          <a:xfrm>
            <a:off x="8965800" y="3672000"/>
            <a:ext cx="125784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GB" sz="1800" spc="-1" strike="noStrike">
                <a:latin typeface="Arial"/>
              </a:rPr>
              <a:t>Foto Trello</a:t>
            </a:r>
            <a:endParaRPr b="0" lang="en-GB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GB" sz="1800" spc="-1" strike="noStrike">
                <a:latin typeface="Arial"/>
              </a:rPr>
              <a:t>Acabat</a:t>
            </a:r>
            <a:endParaRPr b="0" lang="en-GB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ustomShape 1"/>
          <p:cNvSpPr/>
          <p:nvPr/>
        </p:nvSpPr>
        <p:spPr>
          <a:xfrm>
            <a:off x="0" y="0"/>
            <a:ext cx="12189600" cy="68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33" name="" descr=""/>
          <p:cNvPicPr/>
          <p:nvPr/>
        </p:nvPicPr>
        <p:blipFill>
          <a:blip r:embed="rId1"/>
          <a:srcRect l="0" t="1105" r="0" b="0"/>
          <a:stretch/>
        </p:blipFill>
        <p:spPr>
          <a:xfrm>
            <a:off x="0" y="0"/>
            <a:ext cx="8667000" cy="6855840"/>
          </a:xfrm>
          <a:prstGeom prst="rect">
            <a:avLst/>
          </a:prstGeom>
          <a:ln>
            <a:noFill/>
          </a:ln>
        </p:spPr>
      </p:pic>
      <p:sp>
        <p:nvSpPr>
          <p:cNvPr id="134" name="CustomShape 2"/>
          <p:cNvSpPr/>
          <p:nvPr/>
        </p:nvSpPr>
        <p:spPr>
          <a:xfrm flipH="1">
            <a:off x="3710880" y="0"/>
            <a:ext cx="8478000" cy="685584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50000">
                <a:srgbClr val="ffffff"/>
              </a:gs>
              <a:gs pos="100000">
                <a:srgbClr val="ffffff"/>
              </a:gs>
            </a:gsLst>
            <a:lin ang="0"/>
          </a:gra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5" name="CustomShape 3"/>
          <p:cNvSpPr/>
          <p:nvPr/>
        </p:nvSpPr>
        <p:spPr>
          <a:xfrm>
            <a:off x="7848720" y="1122480"/>
            <a:ext cx="4021920" cy="3202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90000"/>
              </a:lnSpc>
            </a:pPr>
            <a:r>
              <a:rPr b="1" lang="en-GB" sz="48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Enginyeria del Software</a:t>
            </a:r>
            <a:endParaRPr b="0" lang="en-GB" sz="4800" spc="-1" strike="noStrike">
              <a:latin typeface="Arial"/>
            </a:endParaRPr>
          </a:p>
        </p:txBody>
      </p:sp>
      <p:sp>
        <p:nvSpPr>
          <p:cNvPr id="136" name="CustomShape 4"/>
          <p:cNvSpPr/>
          <p:nvPr/>
        </p:nvSpPr>
        <p:spPr>
          <a:xfrm rot="5400000">
            <a:off x="8138160" y="348120"/>
            <a:ext cx="144000" cy="702720"/>
          </a:xfrm>
          <a:prstGeom prst="rect">
            <a:avLst/>
          </a:prstGeom>
          <a:solidFill>
            <a:srgbClr val="c34d54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7" name="CustomShape 5"/>
          <p:cNvSpPr/>
          <p:nvPr/>
        </p:nvSpPr>
        <p:spPr>
          <a:xfrm>
            <a:off x="7851600" y="4546440"/>
            <a:ext cx="4022280" cy="16920"/>
          </a:xfrm>
          <a:prstGeom prst="rect">
            <a:avLst/>
          </a:prstGeom>
          <a:solidFill>
            <a:srgbClr val="dbbdbf"/>
          </a:solidFill>
          <a:ln w="3240">
            <a:solidFill>
              <a:srgbClr val="dbbdbf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CustomShape 6"/>
          <p:cNvSpPr/>
          <p:nvPr/>
        </p:nvSpPr>
        <p:spPr>
          <a:xfrm>
            <a:off x="7848720" y="4873680"/>
            <a:ext cx="4021920" cy="135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  <a:spcBef>
                <a:spcPts val="1001"/>
              </a:spcBef>
            </a:pPr>
            <a:r>
              <a:rPr b="0" lang="en-GB" sz="14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Pràctiques: Grup 411-08</a:t>
            </a:r>
            <a:endParaRPr b="0" lang="en-GB" sz="1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</a:pPr>
            <a:endParaRPr b="0" lang="en-GB" sz="1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001"/>
              </a:spcBef>
            </a:pPr>
            <a:r>
              <a:rPr b="0" lang="en-GB" sz="1400" spc="-1" strike="noStrike">
                <a:solidFill>
                  <a:srgbClr val="000000"/>
                </a:solidFill>
                <a:latin typeface="Neue Haas Grotesk Text Pro"/>
                <a:ea typeface="DejaVu Sans"/>
              </a:rPr>
              <a:t>Sprint 01: Requisits Funcionals i No Funcionals</a:t>
            </a:r>
            <a:endParaRPr b="0" lang="en-GB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Trio_Office/6.2.8.2$Windows_x86 LibreOffice_project/</Applicat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2026-03-15T19:18:51Z</dcterms:created>
  <dc:creator/>
  <dc:description/>
  <dc:language>en-US</dc:language>
  <cp:lastModifiedBy/>
  <dcterms:modified xsi:type="dcterms:W3CDTF">2026-03-17T16:09:25Z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2</vt:i4>
  </property>
  <property fmtid="{D5CDD505-2E9C-101B-9397-08002B2CF9AE}" pid="6" name="Notes">
    <vt:i4>15</vt:i4>
  </property>
  <property fmtid="{D5CDD505-2E9C-101B-9397-08002B2CF9AE}" pid="7" name="PresentationFormat">
    <vt:lpwstr>On-screen Show (4:3)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15</vt:i4>
  </property>
</Properties>
</file>