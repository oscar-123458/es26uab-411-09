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1.xml.rels" ContentType="application/vnd.openxmlformats-package.relationships+xml"/>
  <Override PartName="/customXml/_rels/item2.xml.rels" ContentType="application/vnd.openxmlformats-package.relationships+xml"/>
  <Override PartName="/customXml/_rels/item3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media/image1.jpeg" ContentType="image/jpeg"/>
  <Override PartName="/ppt/media/image3.png" ContentType="image/png"/>
  <Override PartName="/ppt/media/image2.png" ContentType="image/png"/>
  <Override PartName="/ppt/media/image4.jpeg" ContentType="image/jpeg"/>
  <Override PartName="/ppt/media/image5.png" ContentType="image/png"/>
  <Override PartName="/ppt/media/image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76000" y="2138040"/>
            <a:ext cx="1103616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76000" y="2138040"/>
            <a:ext cx="1103616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76000" y="2138040"/>
            <a:ext cx="1103616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76000" y="2138040"/>
            <a:ext cx="1103616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576000" y="2138040"/>
            <a:ext cx="11036160" cy="530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76000" y="2138040"/>
            <a:ext cx="1103616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76000" y="2138040"/>
            <a:ext cx="1103616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76000" y="2138040"/>
            <a:ext cx="1103616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76000" y="2138040"/>
            <a:ext cx="1103616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76000" y="2138040"/>
            <a:ext cx="1103616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76000" y="2138040"/>
            <a:ext cx="1103616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76000" y="2138040"/>
            <a:ext cx="1103616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76000" y="2138040"/>
            <a:ext cx="1103616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76000" y="2138040"/>
            <a:ext cx="1103616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76000" y="2138040"/>
            <a:ext cx="1103616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ubTitle"/>
          </p:nvPr>
        </p:nvSpPr>
        <p:spPr>
          <a:xfrm>
            <a:off x="576000" y="2138040"/>
            <a:ext cx="11036160" cy="530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76000" y="2138040"/>
            <a:ext cx="1103616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76000" y="2138040"/>
            <a:ext cx="1103616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76000" y="2138040"/>
            <a:ext cx="1103616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76000" y="2138040"/>
            <a:ext cx="1103616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76000" y="2138040"/>
            <a:ext cx="1103616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576000" y="2138040"/>
            <a:ext cx="1103616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7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8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5"/>
          <p:cNvSpPr/>
          <p:nvPr/>
        </p:nvSpPr>
        <p:spPr>
          <a:xfrm rot="5400000">
            <a:off x="858240" y="345960"/>
            <a:ext cx="145440" cy="703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" name="CustomShape 6"/>
          <p:cNvSpPr/>
          <p:nvPr/>
        </p:nvSpPr>
        <p:spPr>
          <a:xfrm flipV="1">
            <a:off x="578520" y="4499640"/>
            <a:ext cx="11034000" cy="1764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24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76000" y="2138040"/>
            <a:ext cx="1103616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pc="-1" strike="noStrike">
                <a:latin typeface="Arial"/>
              </a:rPr>
              <a:t>Click to edit the title text format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ustomShape 1"/>
          <p:cNvSpPr/>
          <p:nvPr/>
        </p:nvSpPr>
        <p:spPr>
          <a:xfrm>
            <a:off x="558360" y="0"/>
            <a:ext cx="11166840" cy="2018160"/>
          </a:xfrm>
          <a:prstGeom prst="rect">
            <a:avLst/>
          </a:prstGeom>
          <a:solidFill>
            <a:srgbClr val="c34d54"/>
          </a:solidFill>
          <a:ln w="9360">
            <a:solidFill>
              <a:srgbClr val="412426">
                <a:lumMod val="10000"/>
                <a:lumOff val="90000"/>
              </a:srgbClr>
            </a:solidFill>
            <a:round/>
          </a:ln>
          <a:effectLst>
            <a:outerShdw algn="tl" blurRad="50760" dir="2700000" dist="37674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1" name="CustomShape 2"/>
          <p:cNvSpPr/>
          <p:nvPr/>
        </p:nvSpPr>
        <p:spPr>
          <a:xfrm>
            <a:off x="567000" y="0"/>
            <a:ext cx="11154960" cy="2010960"/>
          </a:xfrm>
          <a:prstGeom prst="rect">
            <a:avLst/>
          </a:prstGeom>
          <a:solidFill>
            <a:srgbClr val="c34d54"/>
          </a:solidFill>
          <a:ln w="936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2" name="CustomShape 3"/>
          <p:cNvSpPr/>
          <p:nvPr/>
        </p:nvSpPr>
        <p:spPr>
          <a:xfrm>
            <a:off x="498960" y="787320"/>
            <a:ext cx="127440" cy="703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ustomShape 1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2" name="Picture 3" descr=""/>
          <p:cNvPicPr/>
          <p:nvPr/>
        </p:nvPicPr>
        <p:blipFill>
          <a:blip r:embed="rId1"/>
          <a:srcRect l="0" t="1108" r="-2" b="0"/>
          <a:stretch/>
        </p:blipFill>
        <p:spPr>
          <a:xfrm>
            <a:off x="0" y="0"/>
            <a:ext cx="8667720" cy="6857280"/>
          </a:xfrm>
          <a:prstGeom prst="rect">
            <a:avLst/>
          </a:prstGeom>
          <a:ln w="0">
            <a:noFill/>
          </a:ln>
        </p:spPr>
      </p:pic>
      <p:sp>
        <p:nvSpPr>
          <p:cNvPr id="83" name="CustomShape 2"/>
          <p:cNvSpPr/>
          <p:nvPr/>
        </p:nvSpPr>
        <p:spPr>
          <a:xfrm flipH="1">
            <a:off x="3710880" y="0"/>
            <a:ext cx="8479800" cy="685728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50000">
                <a:srgbClr val="ffffff"/>
              </a:gs>
              <a:gs pos="100000">
                <a:srgbClr val="ffffff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4" name="TextShape 3"/>
          <p:cNvSpPr/>
          <p:nvPr/>
        </p:nvSpPr>
        <p:spPr>
          <a:xfrm>
            <a:off x="7848720" y="1122480"/>
            <a:ext cx="4022640" cy="32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>
              <a:lnSpc>
                <a:spcPct val="90000"/>
              </a:lnSpc>
            </a:pPr>
            <a:r>
              <a:rPr b="1" lang="es-ES" sz="4800" spc="-1" strike="noStrike">
                <a:solidFill>
                  <a:srgbClr val="000000"/>
                </a:solidFill>
                <a:latin typeface="Neue Haas Grotesk Text Pro"/>
              </a:rPr>
              <a:t>Enginyeria del Software</a:t>
            </a:r>
            <a:endParaRPr b="0" lang="en-GB" sz="4800" spc="-1" strike="noStrike">
              <a:latin typeface="Arial"/>
            </a:endParaRPr>
          </a:p>
        </p:txBody>
      </p:sp>
      <p:sp>
        <p:nvSpPr>
          <p:cNvPr id="85" name="CustomShape 4"/>
          <p:cNvSpPr/>
          <p:nvPr/>
        </p:nvSpPr>
        <p:spPr>
          <a:xfrm rot="5400000">
            <a:off x="8131320" y="345960"/>
            <a:ext cx="145440" cy="703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6" name="CustomShape 5"/>
          <p:cNvSpPr/>
          <p:nvPr/>
        </p:nvSpPr>
        <p:spPr>
          <a:xfrm>
            <a:off x="7851600" y="4546800"/>
            <a:ext cx="4022640" cy="1764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240">
            <a:solidFill>
              <a:srgbClr val="412426">
                <a:lumMod val="25000"/>
                <a:lumOff val="7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7" name="CustomShape 6"/>
          <p:cNvSpPr/>
          <p:nvPr/>
        </p:nvSpPr>
        <p:spPr>
          <a:xfrm>
            <a:off x="7848720" y="4872960"/>
            <a:ext cx="4022640" cy="135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Bef>
                <a:spcPts val="1001"/>
              </a:spcBef>
            </a:pPr>
            <a:r>
              <a:rPr b="0" lang="en-GB" sz="1400" spc="-1" strike="noStrike">
                <a:solidFill>
                  <a:srgbClr val="000000"/>
                </a:solidFill>
                <a:latin typeface="Neue Haas Grotesk Text Pro"/>
                <a:ea typeface="DejaVu Sans"/>
              </a:rPr>
              <a:t>Pràctiques: Grup 411-09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r>
              <a:rPr b="0" lang="en-GB" sz="1400" spc="-1" strike="noStrike">
                <a:solidFill>
                  <a:srgbClr val="000000"/>
                </a:solidFill>
                <a:latin typeface="Neue Haas Grotesk Text Pro"/>
                <a:ea typeface="DejaVu Sans"/>
              </a:rPr>
              <a:t>Sprint 02: Diagrama Casos d’Ús</a:t>
            </a:r>
            <a:endParaRPr b="0" lang="en-GB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/>
          <p:nvPr/>
        </p:nvSpPr>
        <p:spPr>
          <a:xfrm>
            <a:off x="1115640" y="548640"/>
            <a:ext cx="10167480" cy="11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1" lang="es-ES" sz="4000" spc="-1" strike="noStrike">
                <a:solidFill>
                  <a:srgbClr val="000000"/>
                </a:solidFill>
                <a:latin typeface="Neue Haas Grotesk Text Pro"/>
              </a:rPr>
              <a:t>Composició de l’equip </a:t>
            </a:r>
            <a:endParaRPr b="0" lang="en-GB" sz="4000" spc="-1" strike="noStrike">
              <a:latin typeface="Arial"/>
            </a:endParaRPr>
          </a:p>
        </p:txBody>
      </p:sp>
      <p:sp>
        <p:nvSpPr>
          <p:cNvPr id="89" name="TextShape 2"/>
          <p:cNvSpPr/>
          <p:nvPr/>
        </p:nvSpPr>
        <p:spPr>
          <a:xfrm>
            <a:off x="854064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</a:pPr>
            <a:fld id="{0254E35A-E896-445C-8167-17C559F418F7}" type="slidenum">
              <a:rPr b="0" lang="en-GB" sz="1200" spc="-1" strike="noStrike">
                <a:solidFill>
                  <a:srgbClr val="8b8b8b"/>
                </a:solidFill>
                <a:latin typeface="Neue Haas Grotesk Text Pro"/>
              </a:rPr>
              <a:t>1</a:t>
            </a:fld>
            <a:endParaRPr b="0" lang="en-GB" sz="1200" spc="-1" strike="noStrike">
              <a:latin typeface="Arial"/>
            </a:endParaRPr>
          </a:p>
        </p:txBody>
      </p:sp>
      <p:sp>
        <p:nvSpPr>
          <p:cNvPr id="90" name="CustomShape 3"/>
          <p:cNvSpPr/>
          <p:nvPr/>
        </p:nvSpPr>
        <p:spPr>
          <a:xfrm>
            <a:off x="3890520" y="3638520"/>
            <a:ext cx="23162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Neue Haas Grotesk Text Pro"/>
                <a:ea typeface="DejaVu Sans"/>
              </a:rPr>
              <a:t>Òscar Raneda Halminen</a:t>
            </a: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</p:txBody>
      </p:sp>
      <p:sp>
        <p:nvSpPr>
          <p:cNvPr id="91" name="CustomShape 4"/>
          <p:cNvSpPr/>
          <p:nvPr/>
        </p:nvSpPr>
        <p:spPr>
          <a:xfrm>
            <a:off x="6513120" y="3638520"/>
            <a:ext cx="2316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Neue Haas Grotesk Text Pro"/>
                <a:ea typeface="DejaVu Sans"/>
              </a:rPr>
              <a:t>Adam Pérez Pulgarín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92" name="CustomShape 5"/>
          <p:cNvSpPr/>
          <p:nvPr/>
        </p:nvSpPr>
        <p:spPr>
          <a:xfrm>
            <a:off x="3890520" y="5799240"/>
            <a:ext cx="2316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GB" sz="1800" spc="-1" strike="noStrike">
                <a:solidFill>
                  <a:srgbClr val="000000"/>
                </a:solidFill>
                <a:latin typeface="Neue Haas Grotesk Text Pro"/>
                <a:ea typeface="DejaVu Sans"/>
              </a:rPr>
              <a:t>Jan Real López</a:t>
            </a:r>
            <a:br>
              <a:rPr sz="1800"/>
            </a:br>
            <a:r>
              <a:rPr b="0" lang="en-GB" sz="1800" spc="-1" strike="noStrike">
                <a:solidFill>
                  <a:srgbClr val="000000"/>
                </a:solidFill>
                <a:latin typeface="Neue Haas Grotesk Text Pro"/>
                <a:ea typeface="DejaVu Sans"/>
              </a:rPr>
              <a:t>(Scrum master)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93" name="CustomShape 6"/>
          <p:cNvSpPr/>
          <p:nvPr/>
        </p:nvSpPr>
        <p:spPr>
          <a:xfrm>
            <a:off x="6513120" y="5799240"/>
            <a:ext cx="2316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Neue Haas Grotesk Text Pro"/>
                <a:ea typeface="DejaVu Sans"/>
              </a:rPr>
              <a:t>Iker Urruticoechea Puig</a:t>
            </a:r>
            <a:endParaRPr b="0" lang="en-GB" sz="1800" spc="-1" strike="noStrike">
              <a:latin typeface="Arial"/>
            </a:endParaRPr>
          </a:p>
        </p:txBody>
      </p:sp>
      <p:pic>
        <p:nvPicPr>
          <p:cNvPr id="94" name="" descr=""/>
          <p:cNvPicPr/>
          <p:nvPr/>
        </p:nvPicPr>
        <p:blipFill>
          <a:blip r:embed="rId1"/>
          <a:stretch/>
        </p:blipFill>
        <p:spPr>
          <a:xfrm>
            <a:off x="6972120" y="4549680"/>
            <a:ext cx="982800" cy="1229040"/>
          </a:xfrm>
          <a:prstGeom prst="rect">
            <a:avLst/>
          </a:prstGeom>
          <a:ln w="0">
            <a:noFill/>
          </a:ln>
        </p:spPr>
      </p:pic>
      <p:pic>
        <p:nvPicPr>
          <p:cNvPr id="95" name="" descr=""/>
          <p:cNvPicPr/>
          <p:nvPr/>
        </p:nvPicPr>
        <p:blipFill>
          <a:blip r:embed="rId2"/>
          <a:srcRect l="13143" t="14756" r="13368" b="18978"/>
          <a:stretch/>
        </p:blipFill>
        <p:spPr>
          <a:xfrm>
            <a:off x="4290480" y="2306520"/>
            <a:ext cx="1106640" cy="1330560"/>
          </a:xfrm>
          <a:prstGeom prst="rect">
            <a:avLst/>
          </a:prstGeom>
          <a:ln w="0">
            <a:noFill/>
          </a:ln>
        </p:spPr>
      </p:pic>
      <p:pic>
        <p:nvPicPr>
          <p:cNvPr id="96" name="" descr=""/>
          <p:cNvPicPr/>
          <p:nvPr/>
        </p:nvPicPr>
        <p:blipFill>
          <a:blip r:embed="rId3"/>
          <a:stretch/>
        </p:blipFill>
        <p:spPr>
          <a:xfrm>
            <a:off x="6873480" y="2384280"/>
            <a:ext cx="978120" cy="1206720"/>
          </a:xfrm>
          <a:prstGeom prst="rect">
            <a:avLst/>
          </a:prstGeom>
          <a:ln w="0">
            <a:noFill/>
          </a:ln>
        </p:spPr>
      </p:pic>
      <p:pic>
        <p:nvPicPr>
          <p:cNvPr id="97" name="" descr=""/>
          <p:cNvPicPr/>
          <p:nvPr/>
        </p:nvPicPr>
        <p:blipFill>
          <a:blip r:embed="rId4"/>
          <a:stretch/>
        </p:blipFill>
        <p:spPr>
          <a:xfrm>
            <a:off x="4343040" y="4572000"/>
            <a:ext cx="1031040" cy="120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Shape 1"/>
          <p:cNvSpPr/>
          <p:nvPr/>
        </p:nvSpPr>
        <p:spPr>
          <a:xfrm>
            <a:off x="1115640" y="548640"/>
            <a:ext cx="10167480" cy="11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1" lang="es-ES" sz="4000" spc="-1" strike="noStrike">
                <a:solidFill>
                  <a:srgbClr val="000000"/>
                </a:solidFill>
                <a:latin typeface="Neue Haas Grotesk Text Pro"/>
              </a:rPr>
              <a:t>Dades sprint</a:t>
            </a:r>
            <a:r>
              <a:rPr b="1" lang="es-ES" sz="4000" spc="-1" strike="noStrike">
                <a:solidFill>
                  <a:srgbClr val="000000"/>
                </a:solidFill>
                <a:latin typeface="Neue Haas Grotesk Text Pro"/>
              </a:rPr>
              <a:t>	</a:t>
            </a:r>
            <a:endParaRPr b="0" lang="en-GB" sz="4000" spc="-1" strike="noStrike">
              <a:latin typeface="Arial"/>
            </a:endParaRPr>
          </a:p>
        </p:txBody>
      </p:sp>
      <p:sp>
        <p:nvSpPr>
          <p:cNvPr id="99" name="TextShape 2"/>
          <p:cNvSpPr/>
          <p:nvPr/>
        </p:nvSpPr>
        <p:spPr>
          <a:xfrm>
            <a:off x="1115640" y="2477880"/>
            <a:ext cx="10167480" cy="369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-22824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pc="-1" strike="noStrike">
                <a:solidFill>
                  <a:srgbClr val="000000"/>
                </a:solidFill>
                <a:latin typeface="Neue Haas Grotesk Text Pro"/>
              </a:rPr>
              <a:t>Data començament: 26 d’abril</a:t>
            </a:r>
            <a:endParaRPr b="0" lang="en-GB" sz="2400" spc="-1" strike="noStrike">
              <a:latin typeface="Arial"/>
            </a:endParaRPr>
          </a:p>
          <a:p>
            <a:pPr marL="228600" indent="-22824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pc="-1" strike="noStrike">
                <a:solidFill>
                  <a:srgbClr val="000000"/>
                </a:solidFill>
                <a:latin typeface="Neue Haas Grotesk Text Pro"/>
              </a:rPr>
              <a:t>Dates lliuraments Campus Virtual: 3 de maig, 6 de maig</a:t>
            </a:r>
            <a:endParaRPr b="0" lang="en-GB" sz="2400" spc="-1" strike="noStrike">
              <a:latin typeface="Arial"/>
            </a:endParaRPr>
          </a:p>
          <a:p>
            <a:pPr marL="228600" indent="-22824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pc="-1" strike="noStrike">
                <a:solidFill>
                  <a:srgbClr val="000000"/>
                </a:solidFill>
                <a:latin typeface="Neue Haas Grotesk Text Pro"/>
              </a:rPr>
              <a:t>Dades presentacions sprint: 4 de maig, 7 de maig</a:t>
            </a:r>
            <a:endParaRPr b="0" lang="en-GB" sz="2400" spc="-1" strike="noStrike">
              <a:latin typeface="Arial"/>
            </a:endParaRPr>
          </a:p>
          <a:p>
            <a:pPr marL="228600" indent="-22824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pc="-1" strike="noStrike">
                <a:solidFill>
                  <a:srgbClr val="000000"/>
                </a:solidFill>
                <a:latin typeface="Neue Haas Grotesk Text Pro"/>
              </a:rPr>
              <a:t>Data finalització sprint: 10 de maig</a:t>
            </a:r>
            <a:endParaRPr b="0" lang="en-GB" sz="2400" spc="-1" strike="noStrike">
              <a:latin typeface="Arial"/>
            </a:endParaRPr>
          </a:p>
        </p:txBody>
      </p:sp>
      <p:sp>
        <p:nvSpPr>
          <p:cNvPr id="100" name="TextShape 3"/>
          <p:cNvSpPr/>
          <p:nvPr/>
        </p:nvSpPr>
        <p:spPr>
          <a:xfrm>
            <a:off x="854064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</a:pPr>
            <a:fld id="{2CEC6175-C7F5-4F73-9F73-00A6C18ADB9C}" type="slidenum">
              <a:rPr b="0" lang="en-GB" sz="1200" spc="-1" strike="noStrike">
                <a:solidFill>
                  <a:srgbClr val="8b8b8b"/>
                </a:solidFill>
                <a:latin typeface="Neue Haas Grotesk Text Pro"/>
              </a:rPr>
              <a:t>&lt;number&gt;</a:t>
            </a:fld>
            <a:endParaRPr b="0" lang="en-GB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Shape 1"/>
          <p:cNvSpPr/>
          <p:nvPr/>
        </p:nvSpPr>
        <p:spPr>
          <a:xfrm>
            <a:off x="1115640" y="548640"/>
            <a:ext cx="10167480" cy="11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1" lang="es-ES" sz="4000" spc="-1" strike="noStrike">
                <a:solidFill>
                  <a:srgbClr val="000000"/>
                </a:solidFill>
                <a:latin typeface="Neue Haas Grotesk Text Pro"/>
              </a:rPr>
              <a:t>Tasques fetes al sprint</a:t>
            </a:r>
            <a:endParaRPr b="0" lang="en-GB" sz="4000" spc="-1" strike="noStrike">
              <a:latin typeface="Arial"/>
            </a:endParaRPr>
          </a:p>
        </p:txBody>
      </p:sp>
      <p:sp>
        <p:nvSpPr>
          <p:cNvPr id="102" name="TextShape 2"/>
          <p:cNvSpPr/>
          <p:nvPr/>
        </p:nvSpPr>
        <p:spPr>
          <a:xfrm>
            <a:off x="854064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</a:pPr>
            <a:fld id="{6027477D-5BCD-46A0-9823-FD42EFDC585B}" type="slidenum">
              <a:rPr b="0" lang="en-GB" sz="1200" spc="-1" strike="noStrike">
                <a:solidFill>
                  <a:srgbClr val="8b8b8b"/>
                </a:solidFill>
                <a:latin typeface="Neue Haas Grotesk Text Pro"/>
              </a:rPr>
              <a:t>&lt;number&gt;</a:t>
            </a:fld>
            <a:endParaRPr b="0" lang="en-GB" sz="1200" spc="-1" strike="noStrike">
              <a:latin typeface="Arial"/>
            </a:endParaRPr>
          </a:p>
        </p:txBody>
      </p:sp>
      <p:sp>
        <p:nvSpPr>
          <p:cNvPr id="103" name="CustomShape 3"/>
          <p:cNvSpPr/>
          <p:nvPr/>
        </p:nvSpPr>
        <p:spPr>
          <a:xfrm>
            <a:off x="428760" y="2198880"/>
            <a:ext cx="10020240" cy="22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</a:pPr>
            <a:r>
              <a:rPr b="0" lang="en-GB" sz="1600" spc="-1" strike="noStrike">
                <a:solidFill>
                  <a:srgbClr val="000000"/>
                </a:solidFill>
                <a:latin typeface="Neue Haas Grotesk Text Pro"/>
                <a:ea typeface="DejaVu Sans"/>
              </a:rPr>
              <a:t>Tasques realitzades aquest sprint:</a:t>
            </a:r>
            <a:endParaRPr b="0" lang="en-GB" sz="1600" spc="-1" strike="noStrike"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GB" sz="1600" spc="-1" strike="noStrike"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en-GB" sz="1600" spc="-1" strike="noStrike">
                <a:solidFill>
                  <a:srgbClr val="000000"/>
                </a:solidFill>
                <a:latin typeface="Neue Haas Grotesk Text Pro"/>
                <a:ea typeface="Microsoft YaHei"/>
              </a:rPr>
              <a:t>Tasca 1: Diagrama casos d’ús (encarregat: Jan</a:t>
            </a:r>
            <a:r>
              <a:rPr b="0" lang="en-GB" sz="1600" spc="-1" strike="noStrike">
                <a:solidFill>
                  <a:srgbClr val="000000"/>
                </a:solidFill>
                <a:latin typeface="Neue Haas Grotesk Text Pro"/>
                <a:ea typeface="DejaVu Sans"/>
              </a:rPr>
              <a:t> Real)</a:t>
            </a:r>
            <a:endParaRPr b="0" lang="en-GB" sz="1600" spc="-1" strike="noStrike"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GB" sz="1600" spc="-1" strike="noStrike"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en-GB" sz="1600" spc="-1" strike="noStrike">
                <a:solidFill>
                  <a:srgbClr val="000000"/>
                </a:solidFill>
                <a:latin typeface="Neue Haas Grotesk Text Pro"/>
                <a:ea typeface="Microsoft YaHei"/>
              </a:rPr>
              <a:t>Tasca 2: Formatejar el document de requisits (encarregat: </a:t>
            </a:r>
            <a:r>
              <a:rPr b="0" lang="en-GB" sz="1600" spc="-1" strike="noStrike">
                <a:solidFill>
                  <a:srgbClr val="000000"/>
                </a:solidFill>
                <a:latin typeface="Neue Haas Grotesk Text Pro"/>
                <a:ea typeface="DejaVu Sans"/>
              </a:rPr>
              <a:t>Adam Pérez)</a:t>
            </a:r>
            <a:endParaRPr b="0" lang="en-GB" sz="1600" spc="-1" strike="noStrike"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GB" sz="1600" spc="-1" strike="noStrike"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en-GB" sz="1600" spc="-1" strike="noStrike">
                <a:solidFill>
                  <a:srgbClr val="000000"/>
                </a:solidFill>
                <a:latin typeface="Neue Haas Grotesk Text Pro"/>
                <a:ea typeface="Microsoft YaHei"/>
              </a:rPr>
              <a:t>Tasca 3: Agrupar requisits en històries d’usuari (encarregat: Òscar Raneda, </a:t>
            </a:r>
            <a:r>
              <a:rPr b="0" lang="en-GB" sz="1600" spc="-1" strike="noStrike">
                <a:solidFill>
                  <a:srgbClr val="000000"/>
                </a:solidFill>
                <a:latin typeface="Neue Haas Grotesk Text Pro"/>
                <a:ea typeface="DejaVu Sans"/>
              </a:rPr>
              <a:t>Adam Pérez</a:t>
            </a:r>
            <a:r>
              <a:rPr b="0" lang="en-GB" sz="1600" spc="-1" strike="noStrike">
                <a:solidFill>
                  <a:srgbClr val="000000"/>
                </a:solidFill>
                <a:latin typeface="Neue Haas Grotesk Text Pro"/>
                <a:ea typeface="Microsoft YaHei"/>
              </a:rPr>
              <a:t>)</a:t>
            </a:r>
            <a:endParaRPr b="0" lang="en-GB" sz="1600" spc="-1" strike="noStrike"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GB" sz="1600" spc="-1" strike="noStrike"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en-GB" sz="1600" spc="-1" strike="noStrike">
                <a:solidFill>
                  <a:srgbClr val="000000"/>
                </a:solidFill>
                <a:latin typeface="Neue Haas Grotesk Text Pro"/>
                <a:ea typeface="Microsoft YaHei"/>
              </a:rPr>
              <a:t>Tasca 4: Fer la presentació (encarregat: Iker Urruticoechea)</a:t>
            </a:r>
            <a:endParaRPr b="0" lang="en-GB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/>
          <p:nvPr/>
        </p:nvSpPr>
        <p:spPr>
          <a:xfrm>
            <a:off x="1115640" y="548640"/>
            <a:ext cx="10167480" cy="11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1" lang="es-ES" sz="4000" spc="-1" strike="noStrike">
                <a:solidFill>
                  <a:srgbClr val="000000"/>
                </a:solidFill>
                <a:latin typeface="Neue Haas Grotesk Text Pro"/>
              </a:rPr>
              <a:t>Casos d’Ús</a:t>
            </a:r>
            <a:endParaRPr b="0" lang="en-GB" sz="4000" spc="-1" strike="noStrike">
              <a:latin typeface="Arial"/>
            </a:endParaRPr>
          </a:p>
        </p:txBody>
      </p:sp>
      <p:sp>
        <p:nvSpPr>
          <p:cNvPr id="105" name="TextShape 2"/>
          <p:cNvSpPr/>
          <p:nvPr/>
        </p:nvSpPr>
        <p:spPr>
          <a:xfrm>
            <a:off x="854064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</a:pPr>
            <a:fld id="{4A5B43A6-38C9-48FE-8637-5FB9AE5ABECC}" type="slidenum">
              <a:rPr b="0" lang="en-GB" sz="1200" spc="-1" strike="noStrike">
                <a:solidFill>
                  <a:srgbClr val="8b8b8b"/>
                </a:solidFill>
                <a:latin typeface="Neue Haas Grotesk Text Pro"/>
              </a:rPr>
              <a:t>&lt;number&gt;</a:t>
            </a:fld>
            <a:endParaRPr b="0" lang="en-GB" sz="1200" spc="-1" strike="noStrike">
              <a:latin typeface="Arial"/>
            </a:endParaRPr>
          </a:p>
        </p:txBody>
      </p:sp>
      <p:sp>
        <p:nvSpPr>
          <p:cNvPr id="106" name="CustomShape 3"/>
          <p:cNvSpPr/>
          <p:nvPr/>
        </p:nvSpPr>
        <p:spPr>
          <a:xfrm>
            <a:off x="428760" y="2198880"/>
            <a:ext cx="1126548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Neue Haas Grotesk Text Pro"/>
                <a:ea typeface="DejaVu Sans"/>
              </a:rPr>
              <a:t>En aquesta secció de la presentació (pot ser més d’una transparència) volem una primera aproximació als diagrames de casos d’ús. </a:t>
            </a:r>
            <a:endParaRPr b="0" lang="en-GB" sz="1800" spc="-1" strike="noStrike"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Neue Haas Grotesk Text Pro"/>
                <a:ea typeface="DejaVu Sans"/>
              </a:rPr>
              <a:t>Com a recomanació, primer podríeu fer un llistat de les funcionalitats que fa cadascú dels perfils d’usuari i dibuixar el diagrama de casos d’us per cadascú d’ells. </a:t>
            </a:r>
            <a:endParaRPr b="0" lang="en-GB" sz="1800" spc="-1" strike="noStrike"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Neue Haas Grotesk Text Pro"/>
                <a:ea typeface="DejaVu Sans"/>
              </a:rPr>
              <a:t>Desprès, podeu ajuntar tots els diagrames en el que serà el diagrama de Casos d’Ús final</a:t>
            </a:r>
            <a:endParaRPr b="0" lang="en-GB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Shape 1"/>
          <p:cNvSpPr/>
          <p:nvPr/>
        </p:nvSpPr>
        <p:spPr>
          <a:xfrm>
            <a:off x="1115640" y="548640"/>
            <a:ext cx="10167480" cy="11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</a:pPr>
            <a:r>
              <a:rPr b="1" lang="es-ES" sz="4000" spc="-1" strike="noStrike">
                <a:solidFill>
                  <a:srgbClr val="000000"/>
                </a:solidFill>
                <a:latin typeface="Neue Haas Grotesk Text Pro"/>
              </a:rPr>
              <a:t>Burn-down chart</a:t>
            </a:r>
            <a:endParaRPr b="0" lang="en-GB" sz="4000" spc="-1" strike="noStrike">
              <a:latin typeface="Arial"/>
            </a:endParaRPr>
          </a:p>
        </p:txBody>
      </p:sp>
      <p:sp>
        <p:nvSpPr>
          <p:cNvPr id="108" name="TextShape 2"/>
          <p:cNvSpPr/>
          <p:nvPr/>
        </p:nvSpPr>
        <p:spPr>
          <a:xfrm>
            <a:off x="854064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</a:pPr>
            <a:fld id="{B57B9A45-D18B-4608-9638-A660596C24B8}" type="slidenum">
              <a:rPr b="0" lang="en-GB" sz="1200" spc="-1" strike="noStrike">
                <a:solidFill>
                  <a:srgbClr val="8b8b8b"/>
                </a:solidFill>
                <a:latin typeface="Neue Haas Grotesk Text Pro"/>
              </a:rPr>
              <a:t>&lt;number&gt;</a:t>
            </a:fld>
            <a:endParaRPr b="0" lang="en-GB" sz="1200" spc="-1" strike="noStrike">
              <a:latin typeface="Arial"/>
            </a:endParaRPr>
          </a:p>
        </p:txBody>
      </p:sp>
      <p:sp>
        <p:nvSpPr>
          <p:cNvPr id="109" name="CustomShape 3"/>
          <p:cNvSpPr/>
          <p:nvPr/>
        </p:nvSpPr>
        <p:spPr>
          <a:xfrm>
            <a:off x="428760" y="2198880"/>
            <a:ext cx="11265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Neue Haas Grotesk Text Pro"/>
                <a:ea typeface="DejaVu Sans"/>
              </a:rPr>
              <a:t>En aquesta transparència volem el vostre burn-down Chart per aquest sprint</a:t>
            </a:r>
            <a:endParaRPr b="0" lang="en-GB" sz="1800" spc="-1" strike="noStrike">
              <a:latin typeface="Arial"/>
            </a:endParaRPr>
          </a:p>
        </p:txBody>
      </p:sp>
      <p:pic>
        <p:nvPicPr>
          <p:cNvPr id="110" name="" descr=""/>
          <p:cNvPicPr/>
          <p:nvPr/>
        </p:nvPicPr>
        <p:blipFill>
          <a:blip r:embed="rId1"/>
          <a:srcRect l="0" t="10416" r="0" b="0"/>
          <a:stretch/>
        </p:blipFill>
        <p:spPr>
          <a:xfrm>
            <a:off x="2675160" y="2630880"/>
            <a:ext cx="6837120" cy="4089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CustomShape 1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12" name="Picture 3" descr=""/>
          <p:cNvPicPr/>
          <p:nvPr/>
        </p:nvPicPr>
        <p:blipFill>
          <a:blip r:embed="rId1"/>
          <a:srcRect l="0" t="1108" r="-2" b="0"/>
          <a:stretch/>
        </p:blipFill>
        <p:spPr>
          <a:xfrm>
            <a:off x="0" y="0"/>
            <a:ext cx="8667720" cy="6857280"/>
          </a:xfrm>
          <a:prstGeom prst="rect">
            <a:avLst/>
          </a:prstGeom>
          <a:ln w="0">
            <a:noFill/>
          </a:ln>
        </p:spPr>
      </p:pic>
      <p:sp>
        <p:nvSpPr>
          <p:cNvPr id="113" name="CustomShape 2"/>
          <p:cNvSpPr/>
          <p:nvPr/>
        </p:nvSpPr>
        <p:spPr>
          <a:xfrm flipH="1">
            <a:off x="3710880" y="0"/>
            <a:ext cx="8479800" cy="685728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50000">
                <a:srgbClr val="ffffff"/>
              </a:gs>
              <a:gs pos="100000">
                <a:srgbClr val="ffffff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4" name="TextShape 3"/>
          <p:cNvSpPr/>
          <p:nvPr/>
        </p:nvSpPr>
        <p:spPr>
          <a:xfrm>
            <a:off x="7848720" y="1122480"/>
            <a:ext cx="4022640" cy="32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>
              <a:lnSpc>
                <a:spcPct val="90000"/>
              </a:lnSpc>
            </a:pPr>
            <a:r>
              <a:rPr b="1" lang="es-ES" sz="4800" spc="-1" strike="noStrike">
                <a:solidFill>
                  <a:srgbClr val="000000"/>
                </a:solidFill>
                <a:latin typeface="Neue Haas Grotesk Text Pro"/>
              </a:rPr>
              <a:t>Enginyeria del Software</a:t>
            </a:r>
            <a:endParaRPr b="0" lang="en-GB" sz="4800" spc="-1" strike="noStrike">
              <a:latin typeface="Arial"/>
            </a:endParaRPr>
          </a:p>
        </p:txBody>
      </p:sp>
      <p:sp>
        <p:nvSpPr>
          <p:cNvPr id="115" name="CustomShape 4"/>
          <p:cNvSpPr/>
          <p:nvPr/>
        </p:nvSpPr>
        <p:spPr>
          <a:xfrm rot="5400000">
            <a:off x="8131320" y="345960"/>
            <a:ext cx="145440" cy="703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6" name="CustomShape 5"/>
          <p:cNvSpPr/>
          <p:nvPr/>
        </p:nvSpPr>
        <p:spPr>
          <a:xfrm>
            <a:off x="7851600" y="4546800"/>
            <a:ext cx="4022640" cy="1764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240">
            <a:solidFill>
              <a:srgbClr val="412426">
                <a:lumMod val="25000"/>
                <a:lumOff val="7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7" name="CustomShape 6"/>
          <p:cNvSpPr/>
          <p:nvPr/>
        </p:nvSpPr>
        <p:spPr>
          <a:xfrm>
            <a:off x="7848720" y="4872960"/>
            <a:ext cx="4022640" cy="135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Bef>
                <a:spcPts val="1001"/>
              </a:spcBef>
            </a:pPr>
            <a:r>
              <a:rPr b="0" lang="en-GB" sz="1400" spc="-1" strike="noStrike">
                <a:solidFill>
                  <a:srgbClr val="000000"/>
                </a:solidFill>
                <a:latin typeface="Neue Haas Grotesk Text Pro"/>
                <a:ea typeface="DejaVu Sans"/>
              </a:rPr>
              <a:t>Pràctiques: Grup 411-09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r>
              <a:rPr b="0" lang="en-GB" sz="1400" spc="-1" strike="noStrike">
                <a:solidFill>
                  <a:srgbClr val="000000"/>
                </a:solidFill>
                <a:latin typeface="Neue Haas Grotesk Text Pro"/>
                <a:ea typeface="DejaVu Sans"/>
              </a:rPr>
              <a:t>Sprint 02: Diagrama Casos d’Ús</a:t>
            </a:r>
            <a:endParaRPr b="0" lang="en-GB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b814fa0-4f1b-4d56-8a36-064af1e36e66">
      <UserInfo>
        <DisplayName/>
        <AccountId xsi:nil="true"/>
        <AccountType/>
      </UserInfo>
    </SharedWithUsers>
    <_activity xmlns="b1fa7ccf-aa4f-4f27-84db-07667d020ac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3BD3DC6F0E81D4FA56575A4B7B24AF5" ma:contentTypeVersion="14" ma:contentTypeDescription="Crear nuevo documento." ma:contentTypeScope="" ma:versionID="ded3d347f3a98b31a82ee0cc093f824b">
  <xsd:schema xmlns:xsd="http://www.w3.org/2001/XMLSchema" xmlns:xs="http://www.w3.org/2001/XMLSchema" xmlns:p="http://schemas.microsoft.com/office/2006/metadata/properties" xmlns:ns3="7b814fa0-4f1b-4d56-8a36-064af1e36e66" xmlns:ns4="b1fa7ccf-aa4f-4f27-84db-07667d020acb" targetNamespace="http://schemas.microsoft.com/office/2006/metadata/properties" ma:root="true" ma:fieldsID="fe3adeea5df1e60fd0d7c7fb86895927" ns3:_="" ns4:_="">
    <xsd:import namespace="7b814fa0-4f1b-4d56-8a36-064af1e36e66"/>
    <xsd:import namespace="b1fa7ccf-aa4f-4f27-84db-07667d020ac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bjectDetectorVersion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814fa0-4f1b-4d56-8a36-064af1e36e6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fa7ccf-aa4f-4f27-84db-07667d020a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BF3923-D9E5-4962-BBB8-690B0ABC4F42}">
  <ds:schemaRefs>
    <ds:schemaRef ds:uri="http://www.w3.org/XML/1998/namespace"/>
    <ds:schemaRef ds:uri="b1fa7ccf-aa4f-4f27-84db-07667d020acb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7b814fa0-4f1b-4d56-8a36-064af1e36e66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04171512-FDE1-4E49-B7EA-58AD2B3337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77A2FCE-FB77-4A2D-98B9-B8BD51BEE8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b814fa0-4f1b-4d56-8a36-064af1e36e66"/>
    <ds:schemaRef ds:uri="b1fa7ccf-aa4f-4f27-84db-07667d020a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7786</TotalTime>
  <Application>View_PPTX_PLUS/7.4.0.3$Windows_X86_64 LibreOffice_project/</Application>
  <AppVersion>15.0000</AppVersion>
  <Words>238</Words>
  <Paragraphs>42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2023-02-10T08:32:17Z</dcterms:created>
  <dc:creator>Jorge Bernal del Nozal</dc:creator>
  <dc:description/>
  <dc:language>en-GB</dc:language>
  <cp:lastModifiedBy/>
  <dcterms:modified xsi:type="dcterms:W3CDTF">2026-05-02T12:25:18Z</dcterms:modified>
  <cp:revision>38</cp:revision>
  <dc:subject/>
  <dc:title>Enginyeria del Software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mplianceAssetId">
    <vt:lpwstr/>
  </property>
  <property fmtid="{D5CDD505-2E9C-101B-9397-08002B2CF9AE}" pid="3" name="ContentTypeId">
    <vt:lpwstr>0x01010063BD3DC6F0E81D4FA56575A4B7B24AF5</vt:lpwstr>
  </property>
  <property fmtid="{D5CDD505-2E9C-101B-9397-08002B2CF9AE}" pid="4" name="HiddenSlides">
    <vt:i4>0</vt:i4>
  </property>
  <property fmtid="{D5CDD505-2E9C-101B-9397-08002B2CF9AE}" pid="5" name="HyperlinksChanged">
    <vt:bool>0</vt:bool>
  </property>
  <property fmtid="{D5CDD505-2E9C-101B-9397-08002B2CF9AE}" pid="6" name="LinksUpToDate">
    <vt:bool>0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Order">
    <vt:i4>1700</vt:i4>
  </property>
  <property fmtid="{D5CDD505-2E9C-101B-9397-08002B2CF9AE}" pid="10" name="PresentationFormat">
    <vt:lpwstr>Panorámica</vt:lpwstr>
  </property>
  <property fmtid="{D5CDD505-2E9C-101B-9397-08002B2CF9AE}" pid="11" name="ScaleCrop">
    <vt:bool>0</vt:bool>
  </property>
  <property fmtid="{D5CDD505-2E9C-101B-9397-08002B2CF9AE}" pid="12" name="ShareDoc">
    <vt:bool>0</vt:bool>
  </property>
  <property fmtid="{D5CDD505-2E9C-101B-9397-08002B2CF9AE}" pid="13" name="Slides">
    <vt:i4>7</vt:i4>
  </property>
  <property fmtid="{D5CDD505-2E9C-101B-9397-08002B2CF9AE}" pid="14" name="TriggerFlowInfo">
    <vt:lpwstr/>
  </property>
  <property fmtid="{D5CDD505-2E9C-101B-9397-08002B2CF9AE}" pid="15" name="_ExtendedDescription">
    <vt:lpwstr/>
  </property>
</Properties>
</file>